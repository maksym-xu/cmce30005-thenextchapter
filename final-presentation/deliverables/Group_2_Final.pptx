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0b48524defc4736" /><Relationship Type="http://schemas.openxmlformats.org/officeDocument/2006/relationships/extended-properties" Target="/docProps/app.xml" Id="R249ae98df4ab46eb" /><Relationship Type="http://schemas.openxmlformats.org/officeDocument/2006/relationships/officeDocument" Target="/ppt/presentation.xml" Id="Rf0152b4164f740d3" /></Relationships>
</file>

<file path=ppt/presentation.xml><?xml version="1.0" encoding="utf-8"?>
<p:presentation xmlns:p="http://schemas.openxmlformats.org/presentationml/2006/main">
  <p:sldMasterIdLst>
    <p:sldMasterId xmlns:r="http://schemas.openxmlformats.org/officeDocument/2006/relationships" id="2147483648" r:id="Ree7fa7cdf75745fd"/>
  </p:sldMasterIdLst>
  <p:notesMasterIdLst>
    <p:notesMasterId xmlns:r="http://schemas.openxmlformats.org/officeDocument/2006/relationships" r:id="R4eaced0d1bb1414b"/>
  </p:notesMasterIdLst>
  <p:sldIdLst>
    <p:sldId xmlns:r="http://schemas.openxmlformats.org/officeDocument/2006/relationships" id="256" r:id="R317c05e987694342"/>
    <p:sldId xmlns:r="http://schemas.openxmlformats.org/officeDocument/2006/relationships" id="257" r:id="R17d2b7431ea847ac"/>
    <p:sldId xmlns:r="http://schemas.openxmlformats.org/officeDocument/2006/relationships" id="258" r:id="R616b08599a3e4cdb"/>
    <p:sldId xmlns:r="http://schemas.openxmlformats.org/officeDocument/2006/relationships" id="259" r:id="Rd557a872e43c4ef7"/>
    <p:sldId xmlns:r="http://schemas.openxmlformats.org/officeDocument/2006/relationships" id="260" r:id="R2e9bcefe62804afa"/>
    <p:sldId xmlns:r="http://schemas.openxmlformats.org/officeDocument/2006/relationships" id="261" r:id="R0758402449c84a8d"/>
    <p:sldId xmlns:r="http://schemas.openxmlformats.org/officeDocument/2006/relationships" id="262" r:id="Rfab026ee010d4231"/>
    <p:sldId xmlns:r="http://schemas.openxmlformats.org/officeDocument/2006/relationships" id="263" r:id="Rc564ac4b945f4bcd"/>
    <p:sldId xmlns:r="http://schemas.openxmlformats.org/officeDocument/2006/relationships" id="264" r:id="R0f5e97a0ea314d46"/>
    <p:sldId xmlns:r="http://schemas.openxmlformats.org/officeDocument/2006/relationships" id="265" r:id="R70a6aefe1ac241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e43fbd022f4065" /><Relationship Type="http://schemas.openxmlformats.org/officeDocument/2006/relationships/slideMaster" Target="/ppt/slideMasters/slideMaster1.xml" Id="Ree7fa7cdf75745fd" /><Relationship Type="http://schemas.openxmlformats.org/officeDocument/2006/relationships/notesMaster" Target="/ppt/notesMasters/notesMaster1.xml" Id="R4eaced0d1bb1414b" /><Relationship Type="http://schemas.openxmlformats.org/officeDocument/2006/relationships/presProps" Target="/ppt/presProps.xml" Id="R98baacbdfaed4f85" /><Relationship Type="http://schemas.openxmlformats.org/officeDocument/2006/relationships/tableStyles" Target="/ppt/tableStyles.xml" Id="R2032d5c5b858483d" /><Relationship Type="http://schemas.openxmlformats.org/officeDocument/2006/relationships/slide" Target="/ppt/slides/slide1.xml" Id="R317c05e987694342" /><Relationship Type="http://schemas.openxmlformats.org/officeDocument/2006/relationships/slide" Target="/ppt/slides/slide2.xml" Id="R17d2b7431ea847ac" /><Relationship Type="http://schemas.openxmlformats.org/officeDocument/2006/relationships/slide" Target="/ppt/slides/slide3.xml" Id="R616b08599a3e4cdb" /><Relationship Type="http://schemas.openxmlformats.org/officeDocument/2006/relationships/slide" Target="/ppt/slides/slide4.xml" Id="Rd557a872e43c4ef7" /><Relationship Type="http://schemas.openxmlformats.org/officeDocument/2006/relationships/slide" Target="/ppt/slides/slide5.xml" Id="R2e9bcefe62804afa" /><Relationship Type="http://schemas.openxmlformats.org/officeDocument/2006/relationships/slide" Target="/ppt/slides/slide6.xml" Id="R0758402449c84a8d" /><Relationship Type="http://schemas.openxmlformats.org/officeDocument/2006/relationships/slide" Target="/ppt/slides/slide7.xml" Id="Rfab026ee010d4231" /><Relationship Type="http://schemas.openxmlformats.org/officeDocument/2006/relationships/slide" Target="/ppt/slides/slide8.xml" Id="Rc564ac4b945f4bcd" /><Relationship Type="http://schemas.openxmlformats.org/officeDocument/2006/relationships/slide" Target="/ppt/slides/slide9.xml" Id="R0f5e97a0ea314d46" /><Relationship Type="http://schemas.openxmlformats.org/officeDocument/2006/relationships/slide" Target="/ppt/slides/slide10.xml" Id="R70a6aefe1ac241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e892a518c849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0e2ae992644252" /><Relationship Type="http://schemas.openxmlformats.org/officeDocument/2006/relationships/notesMaster" Target="/ppt/notesMasters/notesMaster1.xml" Id="R148d436625bf49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705e9adbd54e2e" /><Relationship Type="http://schemas.openxmlformats.org/officeDocument/2006/relationships/notesMaster" Target="/ppt/notesMasters/notesMaster1.xml" Id="R6a66b83a5e094fc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ad6550ded34198" /><Relationship Type="http://schemas.openxmlformats.org/officeDocument/2006/relationships/notesMaster" Target="/ppt/notesMasters/notesMaster1.xml" Id="R1398f05383564b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a5e40d2a8c448b" /><Relationship Type="http://schemas.openxmlformats.org/officeDocument/2006/relationships/notesMaster" Target="/ppt/notesMasters/notesMaster1.xml" Id="R32b4a0e13d614c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b4d65adebd4256" /><Relationship Type="http://schemas.openxmlformats.org/officeDocument/2006/relationships/notesMaster" Target="/ppt/notesMasters/notesMaster1.xml" Id="Rdbfb012dcab944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fe93659f8d46ce" /><Relationship Type="http://schemas.openxmlformats.org/officeDocument/2006/relationships/notesMaster" Target="/ppt/notesMasters/notesMaster1.xml" Id="Ra0874514edf748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ace855b419454b" /><Relationship Type="http://schemas.openxmlformats.org/officeDocument/2006/relationships/notesMaster" Target="/ppt/notesMasters/notesMaster1.xml" Id="R6fc19a4d662a4a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ebbb3668634341" /><Relationship Type="http://schemas.openxmlformats.org/officeDocument/2006/relationships/notesMaster" Target="/ppt/notesMasters/notesMaster1.xml" Id="Rb1f12c4fc12c4a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3282315f6f46fd" /><Relationship Type="http://schemas.openxmlformats.org/officeDocument/2006/relationships/notesMaster" Target="/ppt/notesMasters/notesMaster1.xml" Id="R9d4cc493eda34d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c5c95c2be44172" /><Relationship Type="http://schemas.openxmlformats.org/officeDocument/2006/relationships/notesMaster" Target="/ppt/notesMasters/notesMaster1.xml" Id="Rf63c19f81aef44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Qihang Sun | 25 seconds</a:t>
            </a:r>
          </a:p>
          <a:p xmlns:a="http://schemas.openxmlformats.org/drawingml/2006/main">
            <a:r>
              <a:t/>
            </a:r>
          </a:p>
          <a:p xmlns:a="http://schemas.openxmlformats.org/drawingml/2006/main">
            <a:r>
              <a:t>Good morning. Where should our client look first for a Melbourne Airbnb property? We recommend two- and three-bedroom apartments in the City of Melbourne, with three-bedroom houses in Yarra Ranges as a backup. We will explain the evidence and the checks needed before any lease.</a:t>
            </a:r>
          </a:p>
          <a:p xmlns:a="http://schemas.openxmlformats.org/drawingml/2006/main">
            <a:r>
              <a:t/>
            </a:r>
          </a:p>
          <a:p xmlns:a="http://schemas.openxmlformats.org/drawingml/2006/main">
            <a:r>
              <a:t>中文排练提示: 先给搜索顺序。Melbourne指City of Melbourne市政辖区。3D示意图与淡入切换只是场景示意，不是实际房源。</a:t>
            </a:r>
          </a:p>
          <a:p xmlns:a="http://schemas.openxmlformats.org/drawingml/2006/main">
            <a:r>
              <a:t/>
            </a:r>
          </a:p>
          <a:p xmlns:a="http://schemas.openxmlformats.org/drawingml/2006/main">
            <a:r>
              <a:t>Source: Inside Airbnb Melbourne, subject-supplied data; Group 2 analysis.</a:t>
            </a:r>
          </a:p>
          <a:p xmlns:a="http://schemas.openxmlformats.org/drawingml/2006/main">
            <a:r>
              <a:t>{</a:t>
            </a:r>
          </a:p>
          <a:p xmlns:a="http://schemas.openxmlformats.org/drawingml/2006/main">
            <a:r>
              <a:t>  "source": "analysis/outputs/presentation_metrics.json",</a:t>
            </a:r>
          </a:p>
          <a:p xmlns:a="http://schemas.openxmlformats.org/drawingml/2006/main">
            <a:r>
              <a:t>  "section": "segments",</a:t>
            </a:r>
          </a:p>
          <a:p xmlns:a="http://schemas.openxmlformats.org/drawingml/2006/main">
            <a:r>
              <a:t>  "note": "Prioritisation is a client workflow proposal, not a statistically certain ordering."</a:t>
            </a:r>
          </a:p>
          <a:p xmlns:a="http://schemas.openxmlformats.org/drawingml/2006/main">
            <a:r>
              <a:t>}</a:t>
            </a:r>
          </a:p>
          <a:p xmlns:a="http://schemas.openxmlformats.org/drawingml/2006/main">
            <a:r>
              <a:t/>
            </a:r>
          </a:p>
          <a:p xmlns:a="http://schemas.openxmlformats.org/drawingml/2006/main">
            <a:r>
              <a:t>Evidence and code: https://github.com/maksym-xu/CMCE30005-TheNextChapter/tree/e4c68cae863e35bd1e7df0af4738c41b589f0bad/final-presentation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Illustrative 3D scene generated with OpenAI image_gen. This is not an actual listing. Assets and prompt provenance are included in assets/.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Qihang Sun | 45 seconds</a:t>
            </a:r>
          </a:p>
          <a:p xmlns:a="http://schemas.openxmlformats.org/drawingml/2006/main">
            <a:r>
              <a:t/>
            </a:r>
          </a:p>
          <a:p xmlns:a="http://schemas.openxmlformats.org/drawingml/2006/main">
            <a:r>
              <a:t>Our client plans to lease homes and offer short stays. Rent is due even when guests do not arrive. Furnishing and operating costs also commit limited funds. Choosing where to investigate is therefore a business decision in its own right. Which property groups show stronger guest activity? Can listing features help rank eligible homes? Our analysis answers these questions using recorded reviews. The goal is to spend investigation time on stronger candidates before making financial commitments.</a:t>
            </a:r>
          </a:p>
          <a:p xmlns:a="http://schemas.openxmlformats.org/drawingml/2006/main">
            <a:r>
              <a:t/>
            </a:r>
          </a:p>
          <a:p xmlns:a="http://schemas.openxmlformats.org/drawingml/2006/main">
            <a:r>
              <a:t>中文排练提示: 客户计划租赁房源经营短住。主比较覆盖全部合资格样本，不把43.7%直接套用到三个推荐组。补算另提供探索性组内证据。</a:t>
            </a:r>
          </a:p>
          <a:p xmlns:a="http://schemas.openxmlformats.org/drawingml/2006/main">
            <a:r>
              <a:t/>
            </a:r>
          </a:p>
          <a:p xmlns:a="http://schemas.openxmlformats.org/drawingml/2006/main">
            <a:r>
              <a:t>Source: Source: project brief. Review activity supports an initial search before individual property checks.</a:t>
            </a:r>
          </a:p>
          <a:p xmlns:a="http://schemas.openxmlformats.org/drawingml/2006/main">
            <a:r>
              <a:t>{</a:t>
            </a:r>
          </a:p>
          <a:p xmlns:a="http://schemas.openxmlformats.org/drawingml/2006/main">
            <a:r>
              <a:t>  "source": "Project/Airbnb project brief.pdf; analysis/outputs/presentation_metrics.json",</a:t>
            </a:r>
          </a:p>
          <a:p xmlns:a="http://schemas.openxmlformats.org/drawingml/2006/main">
            <a:r>
              <a:t>  "section": "segments"</a:t>
            </a:r>
          </a:p>
          <a:p xmlns:a="http://schemas.openxmlformats.org/drawingml/2006/main">
            <a:r>
              <a:t>}</a:t>
            </a:r>
          </a:p>
          <a:p xmlns:a="http://schemas.openxmlformats.org/drawingml/2006/main">
            <a:r>
              <a:t/>
            </a:r>
          </a:p>
          <a:p xmlns:a="http://schemas.openxmlformats.org/drawingml/2006/main">
            <a:r>
              <a:t>Evidence and code: https://github.com/maksym-xu/CMCE30005-TheNextChapter/tree/e4c68cae863e35bd1e7df0af4738c41b589f0bad/final-presentation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Qihang Sun | 65 seconds</a:t>
            </a:r>
          </a:p>
          <a:p xmlns:a="http://schemas.openxmlformats.org/drawingml/2006/main">
            <a:r>
              <a:t/>
            </a:r>
          </a:p>
          <a:p xmlns:a="http://schemas.openxmlformats.org/drawingml/2006/main">
            <a:r>
              <a:t>We used the subject's June 2026 Inside Airbnb data. We kept 3,873 comparable homes: entire properties with one to three bedrooms, usable prices, and at least one year since their first recorded review. Each group includes at least fifty homes. This selected sample leaves out many listings, including those with missing prices or limited review history. Our outcome is whether a home received thirty or more reviews in the previous 365 days. A separate reference group sets thirty as its upper-quarter threshold. About one in four analysed homes reached it. Reviews signal past guest activity, not occupied nights or profit. Maksym will explain how this evidence helps prioritise the search.</a:t>
            </a:r>
          </a:p>
          <a:p xmlns:a="http://schemas.openxmlformats.org/drawingml/2006/main">
            <a:r>
              <a:t/>
            </a:r>
          </a:p>
          <a:p xmlns:a="http://schemas.openxmlformats.org/drawingml/2006/main">
            <a:r>
              <a:t>中文排练提示: 口述保留关键样本3,873和30条目标，不逐个读完样本漏斗。资格是距首条记录评论至少一年。906参考组、房东隔离和25.3%非强制定额留问答。交给Maksym。</a:t>
            </a:r>
          </a:p>
          <a:p xmlns:a="http://schemas.openxmlformats.org/drawingml/2006/main">
            <a:r>
              <a:t/>
            </a:r>
          </a:p>
          <a:p xmlns:a="http://schemas.openxmlformats.org/drawingml/2006/main">
            <a:r>
              <a:t>Source: Source: subject-supplied Inside Airbnb data, collected 17 Jun–1 Jul 2026.</a:t>
            </a:r>
          </a:p>
          <a:p xmlns:a="http://schemas.openxmlformats.org/drawingml/2006/main">
            <a:r>
              <a:t>{</a:t>
            </a:r>
          </a:p>
          <a:p xmlns:a="http://schemas.openxmlformats.org/drawingml/2006/main">
            <a:r>
              <a:t>  "source": "analysis/outputs/presentation_metrics.json",</a:t>
            </a:r>
          </a:p>
          <a:p xmlns:a="http://schemas.openxmlformats.org/drawingml/2006/main">
            <a:r>
              <a:t>  "section": "sample and outcome",</a:t>
            </a:r>
          </a:p>
          <a:p xmlns:a="http://schemas.openxmlformats.org/drawingml/2006/main">
            <a:r>
              <a:t>  "filters": "Entire apartment/condo/house/townhouse, 1–3 bedrooms; AUD30–1500 price; first review at least365days before collection;&gt;=50 analysis listings per group."</a:t>
            </a:r>
          </a:p>
          <a:p xmlns:a="http://schemas.openxmlformats.org/drawingml/2006/main">
            <a:r>
              <a:t>}</a:t>
            </a:r>
          </a:p>
          <a:p xmlns:a="http://schemas.openxmlformats.org/drawingml/2006/main">
            <a:r>
              <a:t/>
            </a:r>
          </a:p>
          <a:p xmlns:a="http://schemas.openxmlformats.org/drawingml/2006/main">
            <a:r>
              <a:t>Evidence and code: https://github.com/maksym-xu/CMCE30005-TheNextChapter/tree/e4c68cae863e35bd1e7df0af4738c41b589f0bad/final-presentation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Maksym Xu | 60 seconds</a:t>
            </a:r>
          </a:p>
          <a:p xmlns:a="http://schemas.openxmlformats.org/drawingml/2006/main">
            <a:r>
              <a:t/>
            </a:r>
          </a:p>
          <a:p xmlns:a="http://schemas.openxmlformats.org/drawingml/2006/main">
            <a:r>
              <a:t>These are the three leading groups among fourteen eligible groups. City of Melbourne three-bedroom apartments reached 36.6 percent attainment, and two-bedroom apartments reached 32.8 percent. Three-bedroom houses and townhouses in Yarra Ranges reached 30 percent. The city's higher observed rates and larger samples support our proposed city-first search. The uncertainty ranges overlap. We see these as promising options, not a precise first-to-third ranking. Actual quotes and permissions may change the search order. These percentages measure past review activity, not returns. A promising group can still contain unsuitable homes. We therefore tested whether listing features improve screening across all eligible homes.</a:t>
            </a:r>
          </a:p>
          <a:p xmlns:a="http://schemas.openxmlformats.org/drawingml/2006/main">
            <a:r>
              <a:t/>
            </a:r>
          </a:p>
          <a:p xmlns:a="http://schemas.openxmlformats.org/drawingml/2006/main">
            <a:r>
              <a:t>中文排练提示: 这是14个合资格组中的前三个观察领先组。城市公寓较高观察达标率和较大样本支持拟议搜索顺序；重叠区间不能当正式差异检验。强调有希望的选择，不声称精确1至3名；报价与许可可改变顺序。</a:t>
            </a:r>
          </a:p>
          <a:p xmlns:a="http://schemas.openxmlformats.org/drawingml/2006/main">
            <a:r>
              <a:t/>
            </a:r>
          </a:p>
          <a:p xmlns:a="http://schemas.openxmlformats.org/drawingml/2006/main">
            <a:r>
              <a:t>Source: Source: observed segment shares; 90% uncertainty ranges from resampling hosts.</a:t>
            </a:r>
          </a:p>
          <a:p xmlns:a="http://schemas.openxmlformats.org/drawingml/2006/main">
            <a:r>
              <a:t>{</a:t>
            </a:r>
          </a:p>
          <a:p xmlns:a="http://schemas.openxmlformats.org/drawingml/2006/main">
            <a:r>
              <a:t>  "source": "analysis/reference/final_segment_summary.csv",</a:t>
            </a:r>
          </a:p>
          <a:p xmlns:a="http://schemas.openxmlformats.org/drawingml/2006/main">
            <a:r>
              <a:t>  "note": "Observed proportions; 90% host-bootstrap intervals, overlapping. Not model-generated ranks."</a:t>
            </a:r>
          </a:p>
          <a:p xmlns:a="http://schemas.openxmlformats.org/drawingml/2006/main">
            <a:r>
              <a:t>}</a:t>
            </a:r>
          </a:p>
          <a:p xmlns:a="http://schemas.openxmlformats.org/drawingml/2006/main">
            <a:r>
              <a:t/>
            </a:r>
          </a:p>
          <a:p xmlns:a="http://schemas.openxmlformats.org/drawingml/2006/main">
            <a:r>
              <a:t>Evidence and code: https://github.com/maksym-xu/CMCE30005-TheNextChapter/tree/e4c68cae863e35bd1e7df0af4738c41b589f0bad/final-presentation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Maksym Xu | 75 seconds</a:t>
            </a:r>
          </a:p>
          <a:p xmlns:a="http://schemas.openxmlformats.org/drawingml/2006/main">
            <a:r>
              <a:t/>
            </a:r>
          </a:p>
          <a:p xmlns:a="http://schemas.openxmlformats.org/drawingml/2006/main">
            <a:r>
              <a:t>We changed from the interim random forest to logistic regression for easier explanation, keeping the forest as a benchmark. Our outcome, Y, is one for thirty or more reviews, and zero otherwise. The six inputs, X, are area, dwelling type, bedrooms, current price relative to similar homes, one-night acceptance, and amenity count. Similar homes share the same area, dwelling type and bedroom count. The model combines these features into a ranking score learned from past outcomes. Homes allowing one-night stays were more likely to have met the target. Higher prices relative to similar homes were associated with lower attainment. These relationships do not prove cause and effect or a reliable chance of future success. Eric will show how the score helps focus the search.</a:t>
            </a:r>
          </a:p>
          <a:p xmlns:a="http://schemas.openxmlformats.org/drawingml/2006/main">
            <a:r>
              <a:t/>
            </a:r>
          </a:p>
          <a:p xmlns:a="http://schemas.openxmlformats.org/drawingml/2006/main">
            <a:r>
              <a:t>中文排练提示: 承认RF改为logit是为易解释，RF仍为基准。讲清二元Y、六类X以及合成历史排名分数；一晚与价格方向是关联。公式、权重细节和五折方向检验留备查。交给Eric。</a:t>
            </a:r>
          </a:p>
          <a:p xmlns:a="http://schemas.openxmlformats.org/drawingml/2006/main">
            <a:r>
              <a:t/>
            </a:r>
          </a:p>
          <a:p xmlns:a="http://schemas.openxmlformats.org/drawingml/2006/main">
            <a:r>
              <a:t>Source: Conditional associations, with other inputs held constant. Current settings may differ from the review year.</a:t>
            </a:r>
          </a:p>
          <a:p xmlns:a="http://schemas.openxmlformats.org/drawingml/2006/main">
            <a:r>
              <a:t>{</a:t>
            </a:r>
          </a:p>
          <a:p xmlns:a="http://schemas.openxmlformats.org/drawingml/2006/main">
            <a:r>
              <a:t>  "source": [</a:t>
            </a:r>
          </a:p>
          <a:p xmlns:a="http://schemas.openxmlformats.org/drawingml/2006/main">
            <a:r>
              <a:t>    "analysis/scripts/14_simple_logistic.R",</a:t>
            </a:r>
          </a:p>
          <a:p xmlns:a="http://schemas.openxmlformats.org/drawingml/2006/main">
            <a:r>
              <a:t>    "analysis/outputs/association_stability.json"</a:t>
            </a:r>
          </a:p>
          <a:p xmlns:a="http://schemas.openxmlformats.org/drawingml/2006/main">
            <a:r>
              <a:t>  ],</a:t>
            </a:r>
          </a:p>
          <a:p xmlns:a="http://schemas.openxmlformats.org/drawingml/2006/main">
            <a:r>
              <a:t>  "model": "binomial logistic regression, unpenalised R glm",</a:t>
            </a:r>
          </a:p>
          <a:p xmlns:a="http://schemas.openxmlformats.org/drawingml/2006/main">
            <a:r>
              <a:t>  "inputs": [</a:t>
            </a:r>
          </a:p>
          <a:p xmlns:a="http://schemas.openxmlformats.org/drawingml/2006/main">
            <a:r>
              <a:t>    "Council area",</a:t>
            </a:r>
          </a:p>
          <a:p xmlns:a="http://schemas.openxmlformats.org/drawingml/2006/main">
            <a:r>
              <a:t>    "Apartment or house/townhouse",</a:t>
            </a:r>
          </a:p>
          <a:p xmlns:a="http://schemas.openxmlformats.org/drawingml/2006/main">
            <a:r>
              <a:t>    "Bedrooms (1–3)",</a:t>
            </a:r>
          </a:p>
          <a:p xmlns:a="http://schemas.openxmlformats.org/drawingml/2006/main">
            <a:r>
              <a:t>    "Current price relative to training-fold segment median",</a:t>
            </a:r>
          </a:p>
          <a:p xmlns:a="http://schemas.openxmlformats.org/drawingml/2006/main">
            <a:r>
              <a:t>    "Accepts 1-night stays, yes/no",</a:t>
            </a:r>
          </a:p>
          <a:p xmlns:a="http://schemas.openxmlformats.org/drawingml/2006/main">
            <a:r>
              <a:t>    "Listed amenity count"</a:t>
            </a:r>
          </a:p>
          <a:p xmlns:a="http://schemas.openxmlformats.org/drawingml/2006/main">
            <a:r>
              <a:t>  ],</a:t>
            </a:r>
          </a:p>
          <a:p xmlns:a="http://schemas.openxmlformats.org/drawingml/2006/main">
            <a:r>
              <a:t>  "scope": "Retrospective classification of held-out hosts; no prospective time validation for this model",</a:t>
            </a:r>
          </a:p>
          <a:p xmlns:a="http://schemas.openxmlformats.org/drawingml/2006/main">
            <a:r>
              <a:t>  "interpretation": "Learned probabilities are used only as a historical ranking score. Associations are conditional and non-causal."</a:t>
            </a:r>
          </a:p>
          <a:p xmlns:a="http://schemas.openxmlformats.org/drawingml/2006/main">
            <a:r>
              <a:t>}</a:t>
            </a:r>
          </a:p>
          <a:p xmlns:a="http://schemas.openxmlformats.org/drawingml/2006/main">
            <a:r>
              <a:t/>
            </a:r>
          </a:p>
          <a:p xmlns:a="http://schemas.openxmlformats.org/drawingml/2006/main">
            <a:r>
              <a:t>Evidence and code: https://github.com/maksym-xu/CMCE30005-TheNextChapter/tree/e4c68cae863e35bd1e7df0af4738c41b589f0bad/final-presentation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Eric Huang | 75 seconds</a:t>
            </a:r>
          </a:p>
          <a:p xmlns:a="http://schemas.openxmlformats.org/drawingml/2006/main">
            <a:r>
              <a:t/>
            </a:r>
          </a:p>
          <a:p xmlns:a="http://schemas.openxmlformats.org/drawingml/2006/main">
            <a:r>
              <a:t>For the same historical search quota, selecting by property group averages gave 28.1 percent attainment. The model gave 43.7 percent, an increase of 15.6 percentage points. That means about sixteen more high-review homes per hundred selected. We scored each home without using its host's listings for training. Among 969 selected homes, 423 reached the target. More than half, 56.3 percent, did not. This main comparison covers all eligible homes. A further exploratory check also improved screening within our three priority groups. The score helps focus investigation but does not approve individual leases. These historical checks followed data exploration and do not establish future success rates. We next checked whether our leading groups stayed ahead in the later review window.</a:t>
            </a:r>
          </a:p>
          <a:p xmlns:a="http://schemas.openxmlformats.org/drawingml/2006/main">
            <a:r>
              <a:t/>
            </a:r>
          </a:p>
          <a:p xmlns:a="http://schemas.openxmlformats.org/drawingml/2006/main">
            <a:r>
              <a:t>中文排练提示: 核心改善15.6个百分点，约每100多16套；969中423达标，56.3%未达标。主结果仍为全部合资格样本；一句说明进一步探索检查在优先三组也改善筛选，49.4%与33.4%只留问答。</a:t>
            </a:r>
          </a:p>
          <a:p xmlns:a="http://schemas.openxmlformats.org/drawingml/2006/main">
            <a:r>
              <a:t/>
            </a:r>
          </a:p>
          <a:p xmlns:a="http://schemas.openxmlformats.org/drawingml/2006/main">
            <a:r>
              <a:t>Source: Five host-grouped folds. Same expected screening quota: 969 homes. Ties share the remaining quota.</a:t>
            </a:r>
          </a:p>
          <a:p xmlns:a="http://schemas.openxmlformats.org/drawingml/2006/main">
            <a:r>
              <a:t>{</a:t>
            </a:r>
          </a:p>
          <a:p xmlns:a="http://schemas.openxmlformats.org/drawingml/2006/main">
            <a:r>
              <a:t>  "source": "analysis/outputs/model_comparison.csv",</a:t>
            </a:r>
          </a:p>
          <a:p xmlns:a="http://schemas.openxmlformats.org/drawingml/2006/main">
            <a:r>
              <a:t>  "baseline": {</a:t>
            </a:r>
          </a:p>
          <a:p xmlns:a="http://schemas.openxmlformats.org/drawingml/2006/main">
            <a:r>
              <a:t>    "label": "Training-fold segment average (fixed smoothing weight 10)",</a:t>
            </a:r>
          </a:p>
          <a:p xmlns:a="http://schemas.openxmlformats.org/drawingml/2006/main">
            <a:r>
              <a:t>    "auc": 0.581032353301949,</a:t>
            </a:r>
          </a:p>
          <a:p xmlns:a="http://schemas.openxmlformats.org/drawingml/2006/main">
            <a:r>
              <a:t>    "brier_score": 0.186788923808794,</a:t>
            </a:r>
          </a:p>
          <a:p xmlns:a="http://schemas.openxmlformats.org/drawingml/2006/main">
            <a:r>
              <a:t>    "top_quarter_precision": 0.280689613306624,</a:t>
            </a:r>
          </a:p>
          <a:p xmlns:a="http://schemas.openxmlformats.org/drawingml/2006/main">
            <a:r>
              <a:t>    "top_quarter_precision_percent_1dp": 28.1,</a:t>
            </a:r>
          </a:p>
          <a:p xmlns:a="http://schemas.openxmlformats.org/drawingml/2006/main">
            <a:r>
              <a:t>    "expected_screened_listings": 969,</a:t>
            </a:r>
          </a:p>
          <a:p xmlns:a="http://schemas.openxmlformats.org/drawingml/2006/main">
            <a:r>
              <a:t>    "expected_true_positives": 271.988235294118,</a:t>
            </a:r>
          </a:p>
          <a:p xmlns:a="http://schemas.openxmlformats.org/drawingml/2006/main">
            <a:r>
              <a:t>    "recall": 0.277256101217245,</a:t>
            </a:r>
          </a:p>
          <a:p xmlns:a="http://schemas.openxmlformats.org/drawingml/2006/main">
            <a:r>
              <a:t>    "quota_method": "Exactly ceil(n/4) in expectation; fractional weight at tied boundary"</a:t>
            </a:r>
          </a:p>
          <a:p xmlns:a="http://schemas.openxmlformats.org/drawingml/2006/main">
            <a:r>
              <a:t>  },</a:t>
            </a:r>
          </a:p>
          <a:p xmlns:a="http://schemas.openxmlformats.org/drawingml/2006/main">
            <a:r>
              <a:t>  "full": {</a:t>
            </a:r>
          </a:p>
          <a:p xmlns:a="http://schemas.openxmlformats.org/drawingml/2006/main">
            <a:r>
              <a:t>    "label": "Simple logistic model",</a:t>
            </a:r>
          </a:p>
          <a:p xmlns:a="http://schemas.openxmlformats.org/drawingml/2006/main">
            <a:r>
              <a:t>    "auc": 0.705133885455748,</a:t>
            </a:r>
          </a:p>
          <a:p xmlns:a="http://schemas.openxmlformats.org/drawingml/2006/main">
            <a:r>
              <a:t>    "brier_score": 0.171796162190414,</a:t>
            </a:r>
          </a:p>
          <a:p xmlns:a="http://schemas.openxmlformats.org/drawingml/2006/main">
            <a:r>
              <a:t>    "top_quarter_precision": 0.436532507739938,</a:t>
            </a:r>
          </a:p>
          <a:p xmlns:a="http://schemas.openxmlformats.org/drawingml/2006/main">
            <a:r>
              <a:t>    "top_quarter_precision_percent_1dp": 43.7,</a:t>
            </a:r>
          </a:p>
          <a:p xmlns:a="http://schemas.openxmlformats.org/drawingml/2006/main">
            <a:r>
              <a:t>    "expected_screened_listings": 969,</a:t>
            </a:r>
          </a:p>
          <a:p xmlns:a="http://schemas.openxmlformats.org/drawingml/2006/main">
            <a:r>
              <a:t>    "expected_true_positives": 423,</a:t>
            </a:r>
          </a:p>
          <a:p xmlns:a="http://schemas.openxmlformats.org/drawingml/2006/main">
            <a:r>
              <a:t>    "recall": 0.431192660550459,</a:t>
            </a:r>
          </a:p>
          <a:p xmlns:a="http://schemas.openxmlformats.org/drawingml/2006/main">
            <a:r>
              <a:t>    "quota_method": "Exactly ceil(n/4) in expectation; fractional weight at tied boundary",</a:t>
            </a:r>
          </a:p>
          <a:p xmlns:a="http://schemas.openxmlformats.org/drawingml/2006/main">
            <a:r>
              <a:t>    "confusion": {</a:t>
            </a:r>
          </a:p>
          <a:p xmlns:a="http://schemas.openxmlformats.org/drawingml/2006/main">
            <a:r>
              <a:t>      "true_positives": 423,</a:t>
            </a:r>
          </a:p>
          <a:p xmlns:a="http://schemas.openxmlformats.org/drawingml/2006/main">
            <a:r>
              <a:t>      "false_positives": 546,</a:t>
            </a:r>
          </a:p>
          <a:p xmlns:a="http://schemas.openxmlformats.org/drawingml/2006/main">
            <a:r>
              <a:t>      "false_negatives": 558,</a:t>
            </a:r>
          </a:p>
          <a:p xmlns:a="http://schemas.openxmlformats.org/drawingml/2006/main">
            <a:r>
              <a:t>      "true_negatives": 2346</a:t>
            </a:r>
          </a:p>
          <a:p xmlns:a="http://schemas.openxmlformats.org/drawingml/2006/main">
            <a:r>
              <a:t>    },</a:t>
            </a:r>
          </a:p>
          <a:p xmlns:a="http://schemas.openxmlformats.org/drawingml/2006/main">
            <a:r>
              <a:t>    "accuracy": 0.714949651432998,</a:t>
            </a:r>
          </a:p>
          <a:p xmlns:a="http://schemas.openxmlformats.org/drawingml/2006/main">
            <a:r>
              <a:t>    "all_negative_accuracy": 0.746707978311386,</a:t>
            </a:r>
          </a:p>
          <a:p xmlns:a="http://schemas.openxmlformats.org/drawingml/2006/main">
            <a:r>
              <a:t>    "folds_beating_segment_mean_auc": 5,</a:t>
            </a:r>
          </a:p>
          <a:p xmlns:a="http://schemas.openxmlformats.org/drawingml/2006/main">
            <a:r>
              <a:t>    "fold_auc": [</a:t>
            </a:r>
          </a:p>
          <a:p xmlns:a="http://schemas.openxmlformats.org/drawingml/2006/main">
            <a:r>
              <a:t>      0.791535495939411,</a:t>
            </a:r>
          </a:p>
          <a:p xmlns:a="http://schemas.openxmlformats.org/drawingml/2006/main">
            <a:r>
              <a:t>      0.708683830988248,</a:t>
            </a:r>
          </a:p>
          <a:p xmlns:a="http://schemas.openxmlformats.org/drawingml/2006/main">
            <a:r>
              <a:t>      0.783128339839115,</a:t>
            </a:r>
          </a:p>
          <a:p xmlns:a="http://schemas.openxmlformats.org/drawingml/2006/main">
            <a:r>
              <a:t>      0.598641524736415,</a:t>
            </a:r>
          </a:p>
          <a:p xmlns:a="http://schemas.openxmlformats.org/drawingml/2006/main">
            <a:r>
              <a:t>      0.680537601396115</a:t>
            </a:r>
          </a:p>
          <a:p xmlns:a="http://schemas.openxmlformats.org/drawingml/2006/main">
            <a:r>
              <a:t>    ]</a:t>
            </a:r>
          </a:p>
          <a:p xmlns:a="http://schemas.openxmlformats.org/drawingml/2006/main">
            <a:r>
              <a:t>  },</a:t>
            </a:r>
          </a:p>
          <a:p xmlns:a="http://schemas.openxmlformats.org/drawingml/2006/main">
            <a:r>
              <a:t>  "note": "Threshold30. Same expected screening quota969; fractional weights at tied boundary for baselines. All-listing mean is a context benchmark. Evaluation followed earlier exploration."</a:t>
            </a:r>
          </a:p>
          <a:p xmlns:a="http://schemas.openxmlformats.org/drawingml/2006/main">
            <a:r>
              <a:t>}</a:t>
            </a:r>
          </a:p>
          <a:p xmlns:a="http://schemas.openxmlformats.org/drawingml/2006/main">
            <a:r>
              <a:t/>
            </a:r>
          </a:p>
          <a:p xmlns:a="http://schemas.openxmlformats.org/drawingml/2006/main">
            <a:r>
              <a:t>Evidence and code: https://github.com/maksym-xu/CMCE30005-TheNextChapter/tree/e4c68cae863e35bd1e7df0af4738c41b589f0bad/final-presentation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Eric Huang | 60 seconds</a:t>
            </a:r>
          </a:p>
          <a:p xmlns:a="http://schemas.openxmlformats.org/drawingml/2006/main">
            <a:r>
              <a:t/>
            </a:r>
          </a:p>
          <a:p xmlns:a="http://schemas.openxmlformats.org/drawingml/2006/main">
            <a:r>
              <a:t>For that check, we used dated reviews from the same supplied snapshot to form two annual review windows. We followed the same 2,657 surviving listings with longer histories, covering ten groups. Earlier reference data set a thirty-four-review threshold, fixed across both windows. The earlier leaders were these three priority groups. In the later window, 27.1 percent of their listings reached the target, compared with 14.9 percent elsewhere. This supports starting in those groups. It does not validate the logistic model as a future forecast, and surviving listings may differ from new entrants. Loc will explain the checks each candidate must pass.</a:t>
            </a:r>
          </a:p>
          <a:p xmlns:a="http://schemas.openxmlformats.org/drawingml/2006/main">
            <a:r>
              <a:t/>
            </a:r>
          </a:p>
          <a:p xmlns:a="http://schemas.openxmlformats.org/drawingml/2006/main">
            <a:r>
              <a:t>中文排练提示: 同一快照带日期评论重建两个年度窗口，不声称另取新快照。这里是长期存续样本、34条阈值；主模型用30。27.1%对14.9%支持分组搜索，非未来logit验证。交给Loc。</a:t>
            </a:r>
          </a:p>
          <a:p xmlns:a="http://schemas.openxmlformats.org/drawingml/2006/main">
            <a:r>
              <a:t/>
            </a:r>
          </a:p>
          <a:p xmlns:a="http://schemas.openxmlformats.org/drawingml/2006/main">
            <a:r>
              <a:t>Source: Source: one supplied snapshot of dated reviews; earlier reference sample sets 34. Same three groups as slide 4.</a:t>
            </a:r>
          </a:p>
          <a:p xmlns:a="http://schemas.openxmlformats.org/drawingml/2006/main">
            <a:r>
              <a:t>{</a:t>
            </a:r>
          </a:p>
          <a:p xmlns:a="http://schemas.openxmlformats.org/drawingml/2006/main">
            <a:r>
              <a:t>  "source": "analysis/reference/temporal-validation/",</a:t>
            </a:r>
          </a:p>
          <a:p xmlns:a="http://schemas.openxmlformats.org/drawingml/2006/main">
            <a:r>
              <a:t>  "details": {</a:t>
            </a:r>
          </a:p>
          <a:p xmlns:a="http://schemas.openxmlformats.org/drawingml/2006/main">
            <a:r>
              <a:t>    "validated_object": "Persistence of the earlier top-three segment shortlist, NOT the simple logistic model",</a:t>
            </a:r>
          </a:p>
          <a:p xmlns:a="http://schemas.openxmlformats.org/drawingml/2006/main">
            <a:r>
              <a:t>    "sample_listings": 2657,</a:t>
            </a:r>
          </a:p>
          <a:p xmlns:a="http://schemas.openxmlformats.org/drawingml/2006/main">
            <a:r>
              <a:t>    "sample_hosts": 1208,</a:t>
            </a:r>
          </a:p>
          <a:p xmlns:a="http://schemas.openxmlformats.org/drawingml/2006/main">
            <a:r>
              <a:t>    "segments": 10,</a:t>
            </a:r>
          </a:p>
          <a:p xmlns:a="http://schemas.openxmlformats.org/drawingml/2006/main">
            <a:r>
              <a:t>    "threshold": 34,</a:t>
            </a:r>
          </a:p>
          <a:p xmlns:a="http://schemas.openxmlformats.org/drawingml/2006/main">
            <a:r>
              <a:t>    "threshold_source": "Earlier-window reference-host P75; held fixed for both windows",</a:t>
            </a:r>
          </a:p>
          <a:p xmlns:a="http://schemas.openxmlformats.org/drawingml/2006/main">
            <a:r>
              <a:t>    "windows": {</a:t>
            </a:r>
          </a:p>
          <a:p xmlns:a="http://schemas.openxmlformats.org/drawingml/2006/main">
            <a:r>
              <a:t>      "earlier": "(last_scraped - 730 days, last_scraped - 365 days]",</a:t>
            </a:r>
          </a:p>
          <a:p xmlns:a="http://schemas.openxmlformats.org/drawingml/2006/main">
            <a:r>
              <a:t>      "recent": "(last_scraped - 365 days, last_scraped]",</a:t>
            </a:r>
          </a:p>
          <a:p xmlns:a="http://schemas.openxmlformats.org/drawingml/2006/main">
            <a:r>
              <a:t>      "basis": "per-listing last_scraped; both windows rebuilt from raw review dates"</a:t>
            </a:r>
          </a:p>
          <a:p xmlns:a="http://schemas.openxmlformats.org/drawingml/2006/main">
            <a:r>
              <a:t>    },</a:t>
            </a:r>
          </a:p>
          <a:p xmlns:a="http://schemas.openxmlformats.org/drawingml/2006/main">
            <a:r>
              <a:t>    "earlier_top_three_recent_share": 0.27121609798775154,</a:t>
            </a:r>
          </a:p>
          <a:p xmlns:a="http://schemas.openxmlformats.org/drawingml/2006/main">
            <a:r>
              <a:t>    "others_recent_share": 0.14861294583883752,</a:t>
            </a:r>
          </a:p>
          <a:p xmlns:a="http://schemas.openxmlformats.org/drawingml/2006/main">
            <a:r>
              <a:t>    "difference_percentage_points": 12.260315214891401,</a:t>
            </a:r>
          </a:p>
          <a:p xmlns:a="http://schemas.openxmlformats.org/drawingml/2006/main">
            <a:r>
              <a:t>    "difference_ci95_percentage_points": [</a:t>
            </a:r>
          </a:p>
          <a:p xmlns:a="http://schemas.openxmlformats.org/drawingml/2006/main">
            <a:r>
              <a:t>      5.1416538075964295,</a:t>
            </a:r>
          </a:p>
          <a:p xmlns:a="http://schemas.openxmlformats.org/drawingml/2006/main">
            <a:r>
              <a:t>      20.056599335714765</a:t>
            </a:r>
          </a:p>
          <a:p xmlns:a="http://schemas.openxmlformats.org/drawingml/2006/main">
            <a:r>
              <a:t>    ],</a:t>
            </a:r>
          </a:p>
          <a:p xmlns:a="http://schemas.openxmlformats.org/drawingml/2006/main">
            <a:r>
              <a:t>    "overall_earlier_share": 0.2581859239744072,</a:t>
            </a:r>
          </a:p>
          <a:p xmlns:a="http://schemas.openxmlformats.org/drawingml/2006/main">
            <a:r>
              <a:t>    "overall_recent_share": 0.20135491155438465,</a:t>
            </a:r>
          </a:p>
          <a:p xmlns:a="http://schemas.openxmlformats.org/drawingml/2006/main">
            <a:r>
              <a:t>    "trend_wording": "Overall attainment fell; not every segment fell.",</a:t>
            </a:r>
          </a:p>
          <a:p xmlns:a="http://schemas.openxmlformats.org/drawingml/2006/main">
            <a:r>
              <a:t>    "exact_top_three_set_bootstrap_recurrence": 0.515,</a:t>
            </a:r>
          </a:p>
          <a:p xmlns:a="http://schemas.openxmlformats.org/drawingml/2006/main">
            <a:r>
              <a:t>    "limits": "Same surviving listings across two windows. Longer-history sample. No forecast of a new operator's profit. Copied validated project evidence; raw temporal pipeline is not rerun in this compact package."</a:t>
            </a:r>
          </a:p>
          <a:p xmlns:a="http://schemas.openxmlformats.org/drawingml/2006/main">
            <a:r>
              <a:t>  }</a:t>
            </a:r>
          </a:p>
          <a:p xmlns:a="http://schemas.openxmlformats.org/drawingml/2006/main">
            <a:r>
              <a:t>}</a:t>
            </a:r>
          </a:p>
          <a:p xmlns:a="http://schemas.openxmlformats.org/drawingml/2006/main">
            <a:r>
              <a:t/>
            </a:r>
          </a:p>
          <a:p xmlns:a="http://schemas.openxmlformats.org/drawingml/2006/main">
            <a:r>
              <a:t>Evidence and code: https://github.com/maksym-xu/CMCE30005-TheNextChapter/tree/e4c68cae863e35bd1e7df0af4738c41b589f0bad/final-presentation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 Le | 55 seconds</a:t>
            </a:r>
          </a:p>
          <a:p xmlns:a="http://schemas.openxmlformats.org/drawingml/2006/main">
            <a:r>
              <a:t/>
            </a:r>
          </a:p>
          <a:p xmlns:a="http://schemas.openxmlformats.org/drawingml/2006/main">
            <a:r>
              <a:t>Every candidate must pass two gates before a lease. First, confirm that the intended short-stay use is permitted. Second, check conservative cash flow using actual quotes. Include rent, cleaning, fees, and an allowance for setup costs. Test cautious assumptions for paid nights and achieved nightly rates, with a buffer chosen by the client. Our dataset does not provide these verified numbers. Reject any property that fails permission checks or the client's cash-flow requirements. A high model score cannot override either gate. These checks connect the historical evidence to the actual commitment the client would make.</a:t>
            </a:r>
          </a:p>
          <a:p xmlns:a="http://schemas.openxmlformats.org/drawingml/2006/main">
            <a:r>
              <a:t/>
            </a:r>
          </a:p>
          <a:p xmlns:a="http://schemas.openxmlformats.org/drawingml/2006/main">
            <a:r>
              <a:t>中文排练提示: 两道门是许可与保守现金流。使用真实报价，包含启动成本及客户缓冲；任一道不通过就淘汰，分数不能推翻。</a:t>
            </a:r>
          </a:p>
          <a:p xmlns:a="http://schemas.openxmlformats.org/drawingml/2006/main">
            <a:r>
              <a:t/>
            </a:r>
          </a:p>
          <a:p xmlns:a="http://schemas.openxmlformats.org/drawingml/2006/main">
            <a:r>
              <a:t>Source: Client decision framework. Check actual permissions and use explicit, conservative financial assumptions.</a:t>
            </a:r>
          </a:p>
          <a:p xmlns:a="http://schemas.openxmlformats.org/drawingml/2006/main">
            <a:r>
              <a:t>{</a:t>
            </a:r>
          </a:p>
          <a:p xmlns:a="http://schemas.openxmlformats.org/drawingml/2006/main">
            <a:r>
              <a:t>  "source": "Client decision framework",</a:t>
            </a:r>
          </a:p>
          <a:p xmlns:a="http://schemas.openxmlformats.org/drawingml/2006/main">
            <a:r>
              <a:t>  "note": "No estimated-revenue-derived rent ceiling is used. Revenue inputs for any candidate require explicit scenarios and external verification."</a:t>
            </a:r>
          </a:p>
          <a:p xmlns:a="http://schemas.openxmlformats.org/drawingml/2006/main">
            <a:r>
              <a:t>}</a:t>
            </a:r>
          </a:p>
          <a:p xmlns:a="http://schemas.openxmlformats.org/drawingml/2006/main">
            <a:r>
              <a:t/>
            </a:r>
          </a:p>
          <a:p xmlns:a="http://schemas.openxmlformats.org/drawingml/2006/main">
            <a:r>
              <a:t>Evidence and code: https://github.com/maksym-xu/CMCE30005-TheNextChapter/tree/e4c68cae863e35bd1e7df0af4738c41b589f0bad/final-presentation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Illustrative 3D scene generated with OpenAI image_gen. This is not an actual listing. Assets and prompt provenance are included in assets/.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 Le | 55 seconds</a:t>
            </a:r>
          </a:p>
          <a:p xmlns:a="http://schemas.openxmlformats.org/drawingml/2006/main">
            <a:r>
              <a:t/>
            </a:r>
          </a:p>
          <a:p xmlns:a="http://schemas.openxmlformats.org/drawingml/2006/main">
            <a:r>
              <a:t>The proposed thirty-day plan has three steps. In week one, the operator finds ten candidates, focusing on Melbourne apartments and keeping Yarra Ranges houses as a backup. In weeks two and three, the operator verifies permissions and cost quotes. The analyst tests conservative cash flow, with model scores as supporting evidence. Remove candidates that fail either gate. In week four, the owner compares those remaining and decides whether any small trial is justified. The owner can decide against proceeding. Ten properties and thirty days are proposed working limits, not an analysed optimum. If a trial proceeds, monitor paid nights, net cash flow, and cleaning workload before deciding whether to continue.</a:t>
            </a:r>
          </a:p>
          <a:p xmlns:a="http://schemas.openxmlformats.org/drawingml/2006/main">
            <a:r>
              <a:t/>
            </a:r>
          </a:p>
          <a:p xmlns:a="http://schemas.openxmlformats.org/drawingml/2006/main">
            <a:r>
              <a:t>中文排练提示: 三步时间轴：第1周operator找10套；第2至3周operator核实许可报价、analyst测现金流；第4周owner决定是否小试。若试行就看真实经营结果。</a:t>
            </a:r>
          </a:p>
          <a:p xmlns:a="http://schemas.openxmlformats.org/drawingml/2006/main">
            <a:r>
              <a:t/>
            </a:r>
          </a:p>
          <a:p xmlns:a="http://schemas.openxmlformats.org/drawingml/2006/main">
            <a:r>
              <a:t>Source: Proposed workflow. Thirty days and ten candidates are planning choices, not model-derived optima.</a:t>
            </a:r>
          </a:p>
          <a:p xmlns:a="http://schemas.openxmlformats.org/drawingml/2006/main">
            <a:r>
              <a:t>{</a:t>
            </a:r>
          </a:p>
          <a:p xmlns:a="http://schemas.openxmlformats.org/drawingml/2006/main">
            <a:r>
              <a:t>  "source": "Proposed implementation plan",</a:t>
            </a:r>
          </a:p>
          <a:p xmlns:a="http://schemas.openxmlformats.org/drawingml/2006/main">
            <a:r>
              <a:t>  "note": "10 candidates and30days are planning choices; not model-derived optima. Actual work and approvals have not happened."</a:t>
            </a:r>
          </a:p>
          <a:p xmlns:a="http://schemas.openxmlformats.org/drawingml/2006/main">
            <a:r>
              <a:t>}</a:t>
            </a:r>
          </a:p>
          <a:p xmlns:a="http://schemas.openxmlformats.org/drawingml/2006/main">
            <a:r>
              <a:t/>
            </a:r>
          </a:p>
          <a:p xmlns:a="http://schemas.openxmlformats.org/drawingml/2006/main">
            <a:r>
              <a:t>Evidence and code: https://github.com/maksym-xu/CMCE30005-TheNextChapter/tree/e4c68cae863e35bd1e7df0af4738c41b589f0bad/final-presentation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 Le | 25 seconds</a:t>
            </a:r>
          </a:p>
          <a:p xmlns:a="http://schemas.openxmlformats.org/drawingml/2006/main">
            <a:r>
              <a:t/>
            </a:r>
          </a:p>
          <a:p xmlns:a="http://schemas.openxmlformats.org/drawingml/2006/main">
            <a:r>
              <a:t>Approve a focused thirty-day search of ten candidates. Reviews are not profit, current settings may differ from the past, and our evidence covers established listings. Before any lease, require permissions and conservative cash flow. Thank you. We welcome your questions.</a:t>
            </a:r>
          </a:p>
          <a:p xmlns:a="http://schemas.openxmlformats.org/drawingml/2006/main">
            <a:r>
              <a:t/>
            </a:r>
          </a:p>
          <a:p xmlns:a="http://schemas.openxmlformats.org/drawingml/2006/main">
            <a:r>
              <a:t>中文排练提示: 请求批准30天10套搜索。三条限制简短说完，最后回到签约前两道门。结束于9:00，留60秒缓冲。</a:t>
            </a:r>
          </a:p>
          <a:p xmlns:a="http://schemas.openxmlformats.org/drawingml/2006/main">
            <a:r>
              <a:t/>
            </a:r>
          </a:p>
          <a:p xmlns:a="http://schemas.openxmlformats.org/drawingml/2006/main">
            <a:r>
              <a:t>Source: Group recommendations; decision remains subject to permission and verified cash-flow checks.</a:t>
            </a:r>
          </a:p>
          <a:p xmlns:a="http://schemas.openxmlformats.org/drawingml/2006/main">
            <a:r>
              <a:t>{</a:t>
            </a:r>
          </a:p>
          <a:p xmlns:a="http://schemas.openxmlformats.org/drawingml/2006/main">
            <a:r>
              <a:t>  "source": "Group2 recommendations",</a:t>
            </a:r>
          </a:p>
          <a:p xmlns:a="http://schemas.openxmlformats.org/drawingml/2006/main">
            <a:r>
              <a:t>  "note": "Established priced surviving listings; current details vs past reviews; review activity is not profit."</a:t>
            </a:r>
          </a:p>
          <a:p xmlns:a="http://schemas.openxmlformats.org/drawingml/2006/main">
            <a:r>
              <a:t>}</a:t>
            </a:r>
          </a:p>
          <a:p xmlns:a="http://schemas.openxmlformats.org/drawingml/2006/main">
            <a:r>
              <a:t/>
            </a:r>
          </a:p>
          <a:p xmlns:a="http://schemas.openxmlformats.org/drawingml/2006/main">
            <a:r>
              <a:t>Evidence and code: https://github.com/maksym-xu/CMCE30005-TheNextChapter/tree/e4c68cae863e35bd1e7df0af4738c41b589f0bad/final-presentation . See EVIDENCE_MAP.md for per-slide sources and the boundary between public aggregate checks and authorised-data reproduction. Raw school records and listing-level predictions are excluded from the public package.</a:t>
            </a:r>
          </a:p>
          <a:p xmlns:a="http://schemas.openxmlformats.org/drawingml/2006/main">
            <a:r>
              <a:t>Illustrative 3D scene generated with OpenAI image_gen. This is not an actual listing. Assets and prompt provenance are included in assets/.</a:t>
            </a:r>
          </a:p>
          <a:p xmlns:a="http://schemas.openxmlformats.org/drawingml/2006/main">
            <a:r>
              <a:t>AI acknowledgement: OpenAI Codex assisted with evidence organisation, drafting, code, slide and document layout, and checks. Image generation produced illustrative architectural scenes. Group members are responsible for checking and understanding the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cefe6950ed49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c496ed914449f5" /><Relationship Type="http://schemas.openxmlformats.org/officeDocument/2006/relationships/slideLayout" Target="/ppt/slideLayouts/slideLayout1.xml" Id="Raf8754aba40e4b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8754aba40e4b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bde98dbd6f4e33" /><Relationship Type="http://schemas.openxmlformats.org/officeDocument/2006/relationships/image" Target="/ppt/media/image.png" Id="R9b77a899e6fb4b58" /><Relationship Type="http://schemas.openxmlformats.org/officeDocument/2006/relationships/notesSlide" Target="/ppt/notesSlides/notesSlide1.xml" Id="Rbf3aa4dea1b044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880657a9034134" /><Relationship Type="http://schemas.openxmlformats.org/officeDocument/2006/relationships/notesSlide" Target="/ppt/notesSlides/notesSlide2.xml" Id="R5e688393d2e24b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151d8a1ede46c7" /><Relationship Type="http://schemas.openxmlformats.org/officeDocument/2006/relationships/notesSlide" Target="/ppt/notesSlides/notesSlide3.xml" Id="Re0f4410ca45247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d1cc50d08c4e87" /><Relationship Type="http://schemas.openxmlformats.org/officeDocument/2006/relationships/chart" Target="/ppt/slides/charts/chart1.xml" Id="Rf937ada3b4b54c4f" /><Relationship Type="http://schemas.openxmlformats.org/officeDocument/2006/relationships/notesSlide" Target="/ppt/notesSlides/notesSlide4.xml" Id="R18c2d26c420d47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1de8d5eff54410b" /><Relationship Type="http://schemas.openxmlformats.org/officeDocument/2006/relationships/notesSlide" Target="/ppt/notesSlides/notesSlide5.xml" Id="R46dbe0e25b214b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f1d3a94dcbe4fe5" /><Relationship Type="http://schemas.openxmlformats.org/officeDocument/2006/relationships/chart" Target="/ppt/slides/charts/chart2.xml" Id="Raaa4159e7d984d33" /><Relationship Type="http://schemas.openxmlformats.org/officeDocument/2006/relationships/chart" Target="/ppt/slides/charts/chart3.xml" Id="Rb77821940ca24af0" /><Relationship Type="http://schemas.openxmlformats.org/officeDocument/2006/relationships/notesSlide" Target="/ppt/notesSlides/notesSlide6.xml" Id="R41cc35844e3445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12aebb2b1714819" /><Relationship Type="http://schemas.openxmlformats.org/officeDocument/2006/relationships/chart" Target="/ppt/slides/charts/chart4.xml" Id="Rd83802426e414ac6" /><Relationship Type="http://schemas.openxmlformats.org/officeDocument/2006/relationships/notesSlide" Target="/ppt/notesSlides/notesSlide7.xml" Id="Rdf89025f8f134f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95783ef5a1b459e" /><Relationship Type="http://schemas.openxmlformats.org/officeDocument/2006/relationships/image" Target="/ppt/media/image2.png" Id="Rf5981b94e58947ad" /><Relationship Type="http://schemas.openxmlformats.org/officeDocument/2006/relationships/notesSlide" Target="/ppt/notesSlides/notesSlide8.xml" Id="R3e1fd6d7d80644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76a5438595d42af" /><Relationship Type="http://schemas.openxmlformats.org/officeDocument/2006/relationships/notesSlide" Target="/ppt/notesSlides/notesSlide9.xml" Id="R5994995f66b34a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082565b4f654619" /><Relationship Type="http://schemas.openxmlformats.org/officeDocument/2006/relationships/image" Target="/ppt/media/image3.png" Id="Rf0f3f99bae0a439d" /><Relationship Type="http://schemas.openxmlformats.org/officeDocument/2006/relationships/notesSlide" Target="/ppt/notesSlides/notesSlide10.xml" Id="Rb0e9f29b8d2d40f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City of Melbourne 3BR apartments: 90% range</c:v>
          </c:tx>
          <c:spPr>
            <a:ln xmlns:a="http://schemas.openxmlformats.org/drawingml/2006/main" w="47625">
              <a:solidFill>
                <a:srgbClr val="237E72"/>
              </a:solidFill>
            </a:ln>
          </c:spPr>
          <c:marker>
            <c:symbol val="none"/>
          </c:marker>
          <c:xVal>
            <c:numRef>
              <c:f>'Chart Data'!$A$2:$A$3</c:f>
              <c:numCache>
                <c:formatCode>0.0%</c:formatCode>
                <c:ptCount val="2"/>
                <c:pt idx="0">
                  <c:v>0.273021141322202</c:v>
                </c:pt>
                <c:pt idx="1">
                  <c:v>0.457432197140399</c:v>
                </c:pt>
              </c:numCache>
            </c:numRef>
          </c:xVal>
          <c:yVal>
            <c:numRef>
              <c:f>'Chart Data'!$B$2:$B$3</c:f>
              <c:numCache>
                <c:formatCode>;;;</c:formatCode>
                <c:ptCount val="2"/>
                <c:pt idx="0">
                  <c:v>3</c:v>
                </c:pt>
                <c:pt idx="1">
                  <c:v>3</c:v>
                </c:pt>
              </c:numCache>
            </c:numRef>
          </c:yVal>
        </c:ser>
        <c:ser>
          <c:idx val="1"/>
          <c:order val="1"/>
          <c:tx>
            <c:v>City of Melbourne 3BR apartments: observed</c:v>
          </c:tx>
          <c:spPr>
            <a:solidFill xmlns:a="http://schemas.openxmlformats.org/drawingml/2006/main">
              <a:srgbClr val="237E72"/>
            </a:solidFill>
            <a:ln xmlns:a="http://schemas.openxmlformats.org/drawingml/2006/main" w="0">
              <a:noFill/>
            </a:ln>
          </c:spPr>
          <c:marker>
            <c:symbol val="circle"/>
            <c:size val="13"/>
            <c:spPr>
              <a:solidFill xmlns:a="http://schemas.openxmlformats.org/drawingml/2006/main">
                <a:srgbClr val="237E72"/>
              </a:solidFill>
              <ns0:ln xmlns:ns0="http://schemas.openxmlformats.org/drawingml/2006/main" w="0">
                <ns0:noFill/>
              </ns0:ln>
            </c:spPr>
          </c:marker>
          <c:dLbls>
            <c:dLbl>
              <c:idx val="0"/>
              <c:tx>
                <c:rich>
                  <a:bodyPr xmlns:a="http://schemas.openxmlformats.org/drawingml/2006/main"/>
                  <a:lstStyle xmlns:a="http://schemas.openxmlformats.org/drawingml/2006/main"/>
                  <a:p xmlns:a="http://schemas.openxmlformats.org/drawingml/2006/main">
                    <a:r>
                      <a:rPr sz="2250" b="1">
                        <a:solidFill>
                          <a:srgbClr val="237E72"/>
                        </a:solidFill>
                        <a:latin typeface="Arial"/>
                        <a:ea typeface="Arial"/>
                        <a:cs typeface="Arial"/>
                      </a:rPr>
                      <a:t>36.6%</a:t>
                    </a:r>
                  </a:p>
                </c:rich>
              </c:tx>
              <c:txPr>
                <a:bodyPr xmlns:a="http://schemas.openxmlformats.org/drawingml/2006/main" anchorCtr="1"/>
                <a:lstStyle xmlns:a="http://schemas.openxmlformats.org/drawingml/2006/main"/>
                <a:p xmlns:a="http://schemas.openxmlformats.org/drawingml/2006/main">
                  <a:pPr>
                    <a:defRPr sz="2250" b="1">
                      <a:solidFill>
                        <a:srgbClr val="237E72"/>
                      </a:solidFill>
                      <a:latin typeface="Arial"/>
                      <a:ea typeface="Arial"/>
                      <a:cs typeface="Arial"/>
                    </a:defRPr>
                  </a:pPr>
                </a:p>
              </c:txPr>
              <c:dLblPos val="t"/>
              <c:showLegendKey val="0"/>
              <c:showVal val="0"/>
              <c:showCatName val="0"/>
              <c:showSerName val="0"/>
              <c:showPercent val="0"/>
              <c:showBubbleSize val="0"/>
            </c:dLbl>
          </c:dLbls>
          <c:xVal>
            <c:numRef>
              <c:f>'Chart Data'!$C$2:$C$2</c:f>
              <c:numCache>
                <c:formatCode>0.0%</c:formatCode>
                <c:ptCount val="1"/>
                <c:pt idx="0">
                  <c:v>0.366013071895425</c:v>
                </c:pt>
              </c:numCache>
            </c:numRef>
          </c:xVal>
          <c:yVal>
            <c:numRef>
              <c:f>'Chart Data'!$D$2:$D$2</c:f>
              <c:numCache>
                <c:formatCode>;;;</c:formatCode>
                <c:ptCount val="1"/>
                <c:pt idx="0">
                  <c:v>3</c:v>
                </c:pt>
              </c:numCache>
            </c:numRef>
          </c:yVal>
        </c:ser>
        <c:ser>
          <c:idx val="2"/>
          <c:order val="2"/>
          <c:tx>
            <c:v>City of Melbourne 2BR apartments: 90% range</c:v>
          </c:tx>
          <c:spPr>
            <a:ln xmlns:a="http://schemas.openxmlformats.org/drawingml/2006/main" w="47625">
              <a:solidFill>
                <a:srgbClr val="237E72"/>
              </a:solidFill>
            </a:ln>
          </c:spPr>
          <c:marker>
            <c:symbol val="none"/>
          </c:marker>
          <c:xVal>
            <c:numRef>
              <c:f>'Chart Data'!$E$2:$E$3</c:f>
              <c:numCache>
                <c:formatCode>0.0%</c:formatCode>
                <c:ptCount val="2"/>
                <c:pt idx="0">
                  <c:v>0.268575647871602</c:v>
                </c:pt>
                <c:pt idx="1">
                  <c:v>0.396141294809355</c:v>
                </c:pt>
              </c:numCache>
            </c:numRef>
          </c:xVal>
          <c:yVal>
            <c:numRef>
              <c:f>'Chart Data'!$F$2:$F$3</c:f>
              <c:numCache>
                <c:formatCode>;;;</c:formatCode>
                <c:ptCount val="2"/>
                <c:pt idx="0">
                  <c:v>2</c:v>
                </c:pt>
                <c:pt idx="1">
                  <c:v>2</c:v>
                </c:pt>
              </c:numCache>
            </c:numRef>
          </c:yVal>
        </c:ser>
        <c:ser>
          <c:idx val="3"/>
          <c:order val="3"/>
          <c:tx>
            <c:v>City of Melbourne 2BR apartments: observed</c:v>
          </c:tx>
          <c:spPr>
            <a:solidFill xmlns:a="http://schemas.openxmlformats.org/drawingml/2006/main">
              <a:srgbClr val="237E72"/>
            </a:solidFill>
            <a:ln xmlns:a="http://schemas.openxmlformats.org/drawingml/2006/main" w="0">
              <a:noFill/>
            </a:ln>
          </c:spPr>
          <c:marker>
            <c:symbol val="circle"/>
            <c:size val="13"/>
            <c:spPr>
              <a:solidFill xmlns:a="http://schemas.openxmlformats.org/drawingml/2006/main">
                <a:srgbClr val="237E72"/>
              </a:solidFill>
              <ns1:ln xmlns:ns1="http://schemas.openxmlformats.org/drawingml/2006/main" w="0">
                <ns1:noFill/>
              </ns1:ln>
            </c:spPr>
          </c:marker>
          <c:dLbls>
            <c:dLbl>
              <c:idx val="0"/>
              <c:tx>
                <c:rich>
                  <a:bodyPr xmlns:a="http://schemas.openxmlformats.org/drawingml/2006/main"/>
                  <a:lstStyle xmlns:a="http://schemas.openxmlformats.org/drawingml/2006/main"/>
                  <a:p xmlns:a="http://schemas.openxmlformats.org/drawingml/2006/main">
                    <a:r>
                      <a:rPr sz="2250" b="1">
                        <a:solidFill>
                          <a:srgbClr val="237E72"/>
                        </a:solidFill>
                        <a:latin typeface="Arial"/>
                        <a:ea typeface="Arial"/>
                        <a:cs typeface="Arial"/>
                      </a:rPr>
                      <a:t>32.8%</a:t>
                    </a:r>
                  </a:p>
                </c:rich>
              </c:tx>
              <c:txPr>
                <a:bodyPr xmlns:a="http://schemas.openxmlformats.org/drawingml/2006/main" anchorCtr="1"/>
                <a:lstStyle xmlns:a="http://schemas.openxmlformats.org/drawingml/2006/main"/>
                <a:p xmlns:a="http://schemas.openxmlformats.org/drawingml/2006/main">
                  <a:pPr>
                    <a:defRPr sz="2250" b="1">
                      <a:solidFill>
                        <a:srgbClr val="237E72"/>
                      </a:solidFill>
                      <a:latin typeface="Arial"/>
                      <a:ea typeface="Arial"/>
                      <a:cs typeface="Arial"/>
                    </a:defRPr>
                  </a:pPr>
                </a:p>
              </c:txPr>
              <c:dLblPos val="t"/>
              <c:showLegendKey val="0"/>
              <c:showVal val="0"/>
              <c:showCatName val="0"/>
              <c:showSerName val="0"/>
              <c:showPercent val="0"/>
              <c:showBubbleSize val="0"/>
            </c:dLbl>
          </c:dLbls>
          <c:xVal>
            <c:numRef>
              <c:f>'Chart Data'!$G$2:$G$2</c:f>
              <c:numCache>
                <c:formatCode>0.0%</c:formatCode>
                <c:ptCount val="1"/>
                <c:pt idx="0">
                  <c:v>0.327935222672065</c:v>
                </c:pt>
              </c:numCache>
            </c:numRef>
          </c:xVal>
          <c:yVal>
            <c:numRef>
              <c:f>'Chart Data'!$H$2:$H$2</c:f>
              <c:numCache>
                <c:formatCode>;;;</c:formatCode>
                <c:ptCount val="1"/>
                <c:pt idx="0">
                  <c:v>2</c:v>
                </c:pt>
              </c:numCache>
            </c:numRef>
          </c:yVal>
        </c:ser>
        <c:ser>
          <c:idx val="4"/>
          <c:order val="4"/>
          <c:tx>
            <c:v>Yarra Ranges 3BR houses / townhouses: 90% range</c:v>
          </c:tx>
          <c:spPr>
            <a:ln xmlns:a="http://schemas.openxmlformats.org/drawingml/2006/main" w="47625">
              <a:solidFill>
                <a:srgbClr val="BD5A32"/>
              </a:solidFill>
            </a:ln>
          </c:spPr>
          <c:marker>
            <c:symbol val="none"/>
          </c:marker>
          <c:xVal>
            <c:numRef>
              <c:f>'Chart Data'!$I$2:$I$3</c:f>
              <c:numCache>
                <c:formatCode>0.0%</c:formatCode>
                <c:ptCount val="2"/>
                <c:pt idx="0">
                  <c:v>0.218732040229885</c:v>
                </c:pt>
                <c:pt idx="1">
                  <c:v>0.390271937202131</c:v>
                </c:pt>
              </c:numCache>
            </c:numRef>
          </c:xVal>
          <c:yVal>
            <c:numRef>
              <c:f>'Chart Data'!$J$2:$J$3</c:f>
              <c:numCache>
                <c:formatCode>;;;</c:formatCode>
                <c:ptCount val="2"/>
                <c:pt idx="0">
                  <c:v>1</c:v>
                </c:pt>
                <c:pt idx="1">
                  <c:v>1</c:v>
                </c:pt>
              </c:numCache>
            </c:numRef>
          </c:yVal>
        </c:ser>
        <c:ser>
          <c:idx val="5"/>
          <c:order val="5"/>
          <c:tx>
            <c:v>Yarra Ranges 3BR houses / townhouses: observed</c:v>
          </c:tx>
          <c:spPr>
            <a:solidFill xmlns:a="http://schemas.openxmlformats.org/drawingml/2006/main">
              <a:srgbClr val="BD5A32"/>
            </a:solidFill>
            <a:ln xmlns:a="http://schemas.openxmlformats.org/drawingml/2006/main" w="0">
              <a:noFill/>
            </a:ln>
          </c:spPr>
          <c:marker>
            <c:symbol val="circle"/>
            <c:size val="13"/>
            <c:spPr>
              <a:solidFill xmlns:a="http://schemas.openxmlformats.org/drawingml/2006/main">
                <a:srgbClr val="BD5A32"/>
              </a:solidFill>
              <ns2:ln xmlns:ns2="http://schemas.openxmlformats.org/drawingml/2006/main" w="0">
                <ns2:noFill/>
              </ns2:ln>
            </c:spPr>
          </c:marker>
          <c:dLbls>
            <c:dLbl>
              <c:idx val="0"/>
              <c:tx>
                <c:rich>
                  <a:bodyPr xmlns:a="http://schemas.openxmlformats.org/drawingml/2006/main"/>
                  <a:lstStyle xmlns:a="http://schemas.openxmlformats.org/drawingml/2006/main"/>
                  <a:p xmlns:a="http://schemas.openxmlformats.org/drawingml/2006/main">
                    <a:r>
                      <a:rPr sz="2250" b="1">
                        <a:solidFill>
                          <a:srgbClr val="BD5A32"/>
                        </a:solidFill>
                        <a:latin typeface="Arial"/>
                        <a:ea typeface="Arial"/>
                        <a:cs typeface="Arial"/>
                      </a:rPr>
                      <a:t>30.0%</a:t>
                    </a:r>
                  </a:p>
                </c:rich>
              </c:tx>
              <c:txPr>
                <a:bodyPr xmlns:a="http://schemas.openxmlformats.org/drawingml/2006/main" anchorCtr="1"/>
                <a:lstStyle xmlns:a="http://schemas.openxmlformats.org/drawingml/2006/main"/>
                <a:p xmlns:a="http://schemas.openxmlformats.org/drawingml/2006/main">
                  <a:pPr>
                    <a:defRPr sz="2250" b="1">
                      <a:solidFill>
                        <a:srgbClr val="BD5A32"/>
                      </a:solidFill>
                      <a:latin typeface="Arial"/>
                      <a:ea typeface="Arial"/>
                      <a:cs typeface="Arial"/>
                    </a:defRPr>
                  </a:pPr>
                </a:p>
              </c:txPr>
              <c:dLblPos val="t"/>
              <c:showLegendKey val="0"/>
              <c:showVal val="0"/>
              <c:showCatName val="0"/>
              <c:showSerName val="0"/>
              <c:showPercent val="0"/>
              <c:showBubbleSize val="0"/>
            </c:dLbl>
          </c:dLbls>
          <c:xVal>
            <c:numRef>
              <c:f>'Chart Data'!$K$2:$K$2</c:f>
              <c:numCache>
                <c:formatCode>0.0%</c:formatCode>
                <c:ptCount val="1"/>
                <c:pt idx="0">
                  <c:v>0.3</c:v>
                </c:pt>
              </c:numCache>
            </c:numRef>
          </c:xVal>
          <c:yVal>
            <c:numRef>
              <c:f>'Chart Data'!$L$2:$L$2</c:f>
              <c:numCache>
                <c:formatCode>;;;</c:formatCode>
                <c:ptCount val="1"/>
                <c:pt idx="0">
                  <c:v>1</c:v>
                </c:pt>
              </c:numCache>
            </c:numRef>
          </c:yVal>
        </c:ser>
        <c:ser>
          <c:idx val="6"/>
          <c:order val="6"/>
          <c:tx>
            <c:v>All comparable listings: 25.3%</c:v>
          </c:tx>
          <c:spPr>
            <a:ln xmlns:a="http://schemas.openxmlformats.org/drawingml/2006/main" w="19050">
              <a:solidFill>
                <a:srgbClr val="B9C0B8"/>
              </a:solidFill>
            </a:ln>
          </c:spPr>
          <c:marker>
            <c:symbol val="none"/>
          </c:marker>
          <c:xVal>
            <c:numRef>
              <c:f>'Chart Data'!$M$2:$M$3</c:f>
              <c:numCache>
                <c:formatCode>General</c:formatCode>
                <c:ptCount val="2"/>
                <c:pt idx="0">
                  <c:v>0.253292021688613</c:v>
                </c:pt>
                <c:pt idx="1">
                  <c:v>0.253292021688613</c:v>
                </c:pt>
              </c:numCache>
            </c:numRef>
          </c:xVal>
          <c:yVal>
            <c:numRef>
              <c:f>'Chart Data'!$N$2:$N$3</c:f>
              <c:numCache>
                <c:formatCode>;;;</c:formatCode>
                <c:ptCount val="2"/>
                <c:pt idx="0">
                  <c:v>0.35</c:v>
                </c:pt>
                <c:pt idx="1">
                  <c:v>3.6</c:v>
                </c:pt>
              </c:numCache>
            </c:numRef>
          </c:yVal>
        </c:ser>
        <c:dLbls>
          <c:txPr>
            <a:bodyPr xmlns:a="http://schemas.openxmlformats.org/drawingml/2006/main" anchorCtr="1"/>
            <a:lstStyle xmlns:a="http://schemas.openxmlformats.org/drawingml/2006/main"/>
            <a:p xmlns:a="http://schemas.openxmlformats.org/drawingml/2006/main">
              <a:pPr>
                <a:defRPr sz="2175" b="1">
                  <a:solidFill>
                    <a:srgbClr val="163B36"/>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numFmt formatCode=";;;"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majorUnit val="1"/>
      </c:valAx>
      <c:valAx>
        <c:axId val="48650112"/>
        <c:scaling>
          <c:orientation val="minMax"/>
          <c:max val="0.5"/>
          <c:min val="0"/>
        </c:scaling>
        <c:delete val="0"/>
        <c:axPos val="b"/>
        <c:numFmt formatCode="0%" sourceLinked="0"/>
        <c:majorTickMark val="none"/>
        <c:minorTickMark val="none"/>
        <c:spPr>
          <a:ln xmlns:a="http://schemas.openxmlformats.org/drawingml/2006/main" w="9525">
            <a:solidFill>
              <a:srgbClr val="CCD5CE"/>
            </a:solidFill>
          </a:ln>
        </c:spPr>
        <c:txPr>
          <a:bodyPr xmlns:a="http://schemas.openxmlformats.org/drawingml/2006/main" anchorCtr="1"/>
          <a:lstStyle xmlns:a="http://schemas.openxmlformats.org/drawingml/2006/main"/>
          <a:p xmlns:a="http://schemas.openxmlformats.org/drawingml/2006/main">
            <a:pPr>
              <a:defRPr sz="1575">
                <a:solidFill>
                  <a:srgbClr val="58665F"/>
                </a:solidFill>
                <a:latin typeface="Arial"/>
                <a:ea typeface="Arial"/>
                <a:cs typeface="Arial"/>
              </a:defRPr>
            </a:pPr>
          </a:p>
        </c:txPr>
        <c:crossAx val="48672768"/>
        <c:majorUnit val="0.1"/>
      </c:valAx>
      <c:spPr>
        <a:solidFill xmlns:a="http://schemas.openxmlformats.org/drawingml/2006/main">
          <a:srgbClr val="FAF8F3"/>
        </a:solidFill>
        <a:ln xmlns:a="http://schemas.openxmlformats.org/drawingml/2006/main" w="0">
          <a:noFill/>
        </a:ln>
      </c:spPr>
    </c:plotArea>
    <c:plotVisOnly val="1"/>
  </c:chart>
  <c:spPr>
    <a:solidFill xmlns:a="http://schemas.openxmlformats.org/drawingml/2006/main">
      <a:srgbClr val="FAF8F3"/>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Share reaching the review threshold</c:v>
          </c:tx>
          <c:spPr>
            <a:solidFill xmlns:a="http://schemas.openxmlformats.org/drawingml/2006/main">
              <a:srgbClr val="237E72"/>
            </a:solidFill>
          </c:spPr>
          <c:dPt>
            <c:idx val="0"/>
            <c:invertIfNegative val="0"/>
            <c:spPr>
              <a:solidFill xmlns:a="http://schemas.openxmlformats.org/drawingml/2006/main">
                <a:srgbClr val="9FB3A8"/>
              </a:solidFill>
            </c:spPr>
          </c:dPt>
          <c:dPt>
            <c:idx val="1"/>
            <c:invertIfNegative val="0"/>
            <c:spPr>
              <a:solidFill xmlns:a="http://schemas.openxmlformats.org/drawingml/2006/main">
                <a:srgbClr val="237E72"/>
              </a:solidFill>
            </c:spPr>
          </c:dPt>
          <c:cat>
            <c:strRef>
              <c:f>'Chart Data'!$A$2:$A$3</c:f>
              <c:strCache>
                <c:ptCount val="2"/>
                <c:pt idx="0">
                  <c:v>Simple group
averages</c:v>
                </c:pt>
                <c:pt idx="1">
                  <c:v>Logistic
model</c:v>
                </c:pt>
              </c:strCache>
            </c:strRef>
          </c:cat>
          <c:val>
            <c:numRef>
              <c:f>'Chart Data'!$B$2:$B$3</c:f>
              <c:numCache>
                <c:formatCode>0.0%</c:formatCode>
                <c:ptCount val="2"/>
                <c:pt idx="0">
                  <c:v>0.280689613306624</c:v>
                </c:pt>
                <c:pt idx="1">
                  <c:v>0.436532507739938</c:v>
                </c:pt>
              </c:numCache>
            </c:numRef>
          </c:val>
        </c:ser>
        <c:dLbls>
          <c:txPr>
            <a:bodyPr xmlns:a="http://schemas.openxmlformats.org/drawingml/2006/main" anchorCtr="1"/>
            <a:lstStyle xmlns:a="http://schemas.openxmlformats.org/drawingml/2006/main"/>
            <a:p xmlns:a="http://schemas.openxmlformats.org/drawingml/2006/main">
              <a:pPr>
                <a:defRPr sz="2325" b="1">
                  <a:solidFill>
                    <a:srgbClr val="163B3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l"/>
        <c:numFmt formatCode="General" sourceLinked="0"/>
        <c:majorTickMark val="none"/>
        <c:minorTickMark val="none"/>
        <c:spPr>
          <a:ln xmlns:a="http://schemas.openxmlformats.org/drawingml/2006/main" w="9525">
            <a:solidFill>
              <a:srgbClr val="CCD5CE"/>
            </a:solidFill>
          </a:ln>
        </c:spPr>
        <c:txPr>
          <a:bodyPr xmlns:a="http://schemas.openxmlformats.org/drawingml/2006/main" anchorCtr="1"/>
          <a:lstStyle xmlns:a="http://schemas.openxmlformats.org/drawingml/2006/main"/>
          <a:p xmlns:a="http://schemas.openxmlformats.org/drawingml/2006/main">
            <a:pPr>
              <a:defRPr sz="1725">
                <a:solidFill>
                  <a:srgbClr val="163B36"/>
                </a:solidFill>
                <a:latin typeface="Arial"/>
                <a:ea typeface="Arial"/>
                <a:cs typeface="Arial"/>
              </a:defRPr>
            </a:pPr>
          </a:p>
        </c:txPr>
        <c:crossAx val="48672768"/>
      </c:catAx>
      <c:valAx>
        <c:axId val="48672768"/>
        <c:scaling>
          <c:orientation val="minMax"/>
          <c:max val="0.6"/>
          <c:min val="0"/>
        </c:scaling>
        <c:delete val="0"/>
        <c:axPos val="b"/>
        <c:majorGridlines>
          <c:spPr>
            <a:ln xmlns:a="http://schemas.openxmlformats.org/drawingml/2006/main" w="7620">
              <a:solidFill>
                <a:srgbClr val="CCD5CE"/>
              </a:solidFill>
            </a:ln>
          </c:spPr>
        </c:majorGridlines>
        <c:numFmt formatCode="0%" sourceLinked="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65F"/>
                </a:solidFill>
                <a:latin typeface="Arial"/>
                <a:ea typeface="Arial"/>
                <a:cs typeface="Arial"/>
              </a:defRPr>
            </a:pPr>
          </a:p>
        </c:txPr>
        <c:crossAx val="48650112"/>
        <c:crossBetween val="between"/>
        <c:majorUnit val="0.1"/>
      </c:valAx>
      <c:spPr>
        <a:solidFill xmlns:a="http://schemas.openxmlformats.org/drawingml/2006/main">
          <a:srgbClr val="FAF8F3"/>
        </a:solidFill>
        <a:ln xmlns:a="http://schemas.openxmlformats.org/drawingml/2006/main" w="0">
          <a:noFill/>
        </a:ln>
      </c:spPr>
    </c:plotArea>
    <c:plotVisOnly val="1"/>
  </c:chart>
  <c:spPr>
    <a:solidFill xmlns:a="http://schemas.openxmlformats.org/drawingml/2006/main">
      <a:srgbClr val="FAF8F3"/>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Reached 30 reviews</c:v>
          </c:tx>
          <c:spPr>
            <a:solidFill xmlns:a="http://schemas.openxmlformats.org/drawingml/2006/main">
              <a:srgbClr val="237E72"/>
            </a:solidFill>
            <a:ln xmlns:a="http://schemas.openxmlformats.org/drawingml/2006/main" w="0">
              <a:noFill/>
            </a:ln>
          </c:spPr>
          <c:cat>
            <c:strRef>
              <c:f>'Chart Data'!$A$2:$A$2</c:f>
              <c:strCache>
                <c:ptCount val="1"/>
                <c:pt idx="0">
                  <c:v>Selected</c:v>
                </c:pt>
              </c:strCache>
            </c:strRef>
          </c:cat>
          <c:val>
            <c:numRef>
              <c:f>'Chart Data'!$B$2:$B$2</c:f>
              <c:numCache>
                <c:formatCode>;;;</c:formatCode>
                <c:ptCount val="1"/>
                <c:pt idx="0">
                  <c:v>423</c:v>
                </c:pt>
              </c:numCache>
            </c:numRef>
          </c:val>
        </c:ser>
        <c:ser>
          <c:idx val="1"/>
          <c:order val="1"/>
          <c:tx>
            <c:v>Below 30 reviews</c:v>
          </c:tx>
          <c:spPr>
            <a:solidFill xmlns:a="http://schemas.openxmlformats.org/drawingml/2006/main">
              <a:srgbClr val="D9E0D9"/>
            </a:solidFill>
            <a:ln xmlns:a="http://schemas.openxmlformats.org/drawingml/2006/main" w="0">
              <a:noFill/>
            </a:ln>
          </c:spPr>
          <c:cat>
            <c:strRef>
              <c:f>'Chart Data'!$C$2:$C$2</c:f>
              <c:strCache>
                <c:ptCount val="1"/>
                <c:pt idx="0">
                  <c:v>Selected</c:v>
                </c:pt>
              </c:strCache>
            </c:strRef>
          </c:cat>
          <c:val>
            <c:numRef>
              <c:f>'Chart Data'!$D$2:$D$2</c:f>
              <c:numCache>
                <c:formatCode>;;;</c:formatCode>
                <c:ptCount val="1"/>
                <c:pt idx="0">
                  <c:v>546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ctr"/>
          <c:showLegendKey val="0"/>
          <c:showVal val="0"/>
          <c:showCatName val="0"/>
          <c:showSerName val="0"/>
          <c:showPercent val="0"/>
          <c:showBubbleSize val="0"/>
          <c:showLeaderLines val="0"/>
        </c:dLbls>
        <c:gapWidth val="0"/>
        <c:overlap val="100"/>
        <c:axId val="48650112"/>
        <c:axId val="48672768"/>
      </c:barChart>
      <c:catAx>
        <c:axId val="48650112"/>
        <c:scaling>
          <c:orientation val="minMax"/>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969"/>
          <c:min val="0"/>
        </c:scaling>
        <c:delete val="0"/>
        <c:axPos val="b"/>
        <c:numFmt formatCode=";;;"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AF8F3"/>
        </a:solidFill>
        <a:ln xmlns:a="http://schemas.openxmlformats.org/drawingml/2006/main" w="0">
          <a:noFill/>
        </a:ln>
      </c:spPr>
    </c:plotArea>
    <c:plotVisOnly val="1"/>
  </c:chart>
  <c:spPr>
    <a:solidFill xmlns:a="http://schemas.openxmlformats.org/drawingml/2006/main">
      <a:srgbClr val="FAF8F3"/>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Share reaching the review threshold</c:v>
          </c:tx>
          <c:spPr>
            <a:solidFill xmlns:a="http://schemas.openxmlformats.org/drawingml/2006/main">
              <a:srgbClr val="237E72"/>
            </a:solidFill>
          </c:spPr>
          <c:dPt>
            <c:idx val="0"/>
            <c:invertIfNegative val="0"/>
            <c:spPr>
              <a:solidFill xmlns:a="http://schemas.openxmlformats.org/drawingml/2006/main">
                <a:srgbClr val="A6B8AD"/>
              </a:solidFill>
            </c:spPr>
          </c:dPt>
          <c:dPt>
            <c:idx val="1"/>
            <c:invertIfNegative val="0"/>
            <c:spPr>
              <a:solidFill xmlns:a="http://schemas.openxmlformats.org/drawingml/2006/main">
                <a:srgbClr val="BD5A32"/>
              </a:solidFill>
            </c:spPr>
          </c:dPt>
          <c:cat>
            <c:strRef>
              <c:f>'Chart Data'!$A$2:$A$3</c:f>
              <c:strCache>
                <c:ptCount val="2"/>
                <c:pt idx="0">
                  <c:v>Other seven
groups</c:v>
                </c:pt>
                <c:pt idx="1">
                  <c:v>Earlier top
three groups</c:v>
                </c:pt>
              </c:strCache>
            </c:strRef>
          </c:cat>
          <c:val>
            <c:numRef>
              <c:f>'Chart Data'!$B$2:$B$3</c:f>
              <c:numCache>
                <c:formatCode>0.0%</c:formatCode>
                <c:ptCount val="2"/>
                <c:pt idx="0">
                  <c:v>0.148612945838838</c:v>
                </c:pt>
                <c:pt idx="1">
                  <c:v>0.271216097987752</c:v>
                </c:pt>
              </c:numCache>
            </c:numRef>
          </c:val>
        </c:ser>
        <c:dLbls>
          <c:txPr>
            <a:bodyPr xmlns:a="http://schemas.openxmlformats.org/drawingml/2006/main" anchorCtr="1"/>
            <a:lstStyle xmlns:a="http://schemas.openxmlformats.org/drawingml/2006/main"/>
            <a:p xmlns:a="http://schemas.openxmlformats.org/drawingml/2006/main">
              <a:pPr>
                <a:defRPr sz="2325" b="1">
                  <a:solidFill>
                    <a:srgbClr val="163B3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l"/>
        <c:numFmt formatCode="General" sourceLinked="0"/>
        <c:majorTickMark val="none"/>
        <c:minorTickMark val="none"/>
        <c:spPr>
          <a:ln xmlns:a="http://schemas.openxmlformats.org/drawingml/2006/main" w="9525">
            <a:solidFill>
              <a:srgbClr val="CCD5CE"/>
            </a:solidFill>
          </a:ln>
        </c:spPr>
        <c:txPr>
          <a:bodyPr xmlns:a="http://schemas.openxmlformats.org/drawingml/2006/main" anchorCtr="1"/>
          <a:lstStyle xmlns:a="http://schemas.openxmlformats.org/drawingml/2006/main"/>
          <a:p xmlns:a="http://schemas.openxmlformats.org/drawingml/2006/main">
            <a:pPr>
              <a:defRPr sz="1725">
                <a:solidFill>
                  <a:srgbClr val="163B36"/>
                </a:solidFill>
                <a:latin typeface="Arial"/>
                <a:ea typeface="Arial"/>
                <a:cs typeface="Arial"/>
              </a:defRPr>
            </a:pPr>
          </a:p>
        </c:txPr>
        <c:crossAx val="48672768"/>
      </c:catAx>
      <c:valAx>
        <c:axId val="48672768"/>
        <c:scaling>
          <c:orientation val="minMax"/>
          <c:max val="0.4"/>
          <c:min val="0"/>
        </c:scaling>
        <c:delete val="0"/>
        <c:axPos val="b"/>
        <c:majorGridlines>
          <c:spPr>
            <a:ln xmlns:a="http://schemas.openxmlformats.org/drawingml/2006/main" w="7620">
              <a:solidFill>
                <a:srgbClr val="CCD5CE"/>
              </a:solidFill>
            </a:ln>
          </c:spPr>
        </c:majorGridlines>
        <c:numFmt formatCode="0%" sourceLinked="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65F"/>
                </a:solidFill>
                <a:latin typeface="Arial"/>
                <a:ea typeface="Arial"/>
                <a:cs typeface="Arial"/>
              </a:defRPr>
            </a:pPr>
          </a:p>
        </c:txPr>
        <c:crossAx val="48650112"/>
        <c:crossBetween val="between"/>
        <c:majorUnit val="0.1"/>
      </c:valAx>
      <c:spPr>
        <a:solidFill xmlns:a="http://schemas.openxmlformats.org/drawingml/2006/main">
          <a:srgbClr val="FAF8F3"/>
        </a:solidFill>
        <a:ln xmlns:a="http://schemas.openxmlformats.org/drawingml/2006/main" w="0">
          <a:noFill/>
        </a:ln>
      </c:spPr>
    </c:plotArea>
    <c:plotVisOnly val="1"/>
  </c:chart>
  <c:spPr>
    <a:solidFill xmlns:a="http://schemas.openxmlformats.org/drawingml/2006/main">
      <a:srgbClr val="FAF8F3"/>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b77a899e6fb4b5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726512E-9A59-4AE0-A0E3-BAE23791EFAB}"/>
              </a:ext>
            </a:extLst>
          </p:cNvPr>
          <p:cNvSpPr>
            <a:spLocks xmlns:a="http://schemas.openxmlformats.org/drawingml/2006/main" noGrp="1"/>
          </p:cNvSpPr>
          <p:nvPr/>
        </p:nvSpPr>
        <p:spPr>
          <a:xfrm xmlns:a="http://schemas.openxmlformats.org/drawingml/2006/main">
            <a:off x="0" y="0"/>
            <a:ext cx="8001000" cy="6858000"/>
          </a:xfrm>
          <a:prstGeom xmlns:a="http://schemas.openxmlformats.org/drawingml/2006/main" prst="rect">
            <a:avLst/>
          </a:prstGeom>
          <a:gradFill xmlns:a="http://schemas.openxmlformats.org/drawingml/2006/main">
            <a:gsLst>
              <a:gs pos="0">
                <a:srgbClr val="102E28"/>
              </a:gs>
              <a:gs pos="61000">
                <a:srgbClr val="102E28">
                  <a:alpha val="96000"/>
                </a:srgbClr>
              </a:gs>
              <a:gs pos="100000">
                <a:srgbClr val="102E28">
                  <a:alpha val="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05EA6F0-9921-440A-911C-125E8A25D0B7}"/>
              </a:ext>
            </a:extLst>
          </p:cNvPr>
          <p:cNvSpPr>
            <a:spLocks xmlns:a="http://schemas.openxmlformats.org/drawingml/2006/main" noGrp="1"/>
          </p:cNvSpPr>
          <p:nvPr/>
        </p:nvSpPr>
        <p:spPr>
          <a:xfrm xmlns:a="http://schemas.openxmlformats.org/drawingml/2006/main">
            <a:off x="609600" y="457200"/>
            <a:ext cx="666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C6D9D1"/>
                </a:solidFill>
                <a:latin typeface="Arial"/>
                <a:ea typeface="Arial"/>
                <a:cs typeface="Arial"/>
              </a:defRPr>
            </a:pPr>
            <a:r>
              <a:rPr sz="1500" b="1">
                <a:solidFill>
                  <a:srgbClr val="C6D9D1"/>
                </a:solidFill>
                <a:latin typeface="Arial"/>
                <a:ea typeface="Arial"/>
                <a:cs typeface="Arial"/>
              </a:rPr>
              <a:t>Group 2</a:t>
            </a:r>
          </a:p>
        </p:txBody>
      </p:sp>
      <p:sp>
        <p:nvSpPr>
          <p:cNvPr id="4" name="">
            <a:extLst xmlns:a="http://schemas.openxmlformats.org/drawingml/2006/main">
              <a:ext uri="{FF2B5EF4-FFF2-40B4-BE49-F238E27FC236}">
                <a16:creationId xmlns:a16="http://schemas.microsoft.com/office/drawing/2014/main" id="{057F6096-21C7-4845-AD9F-FD039006B30C}"/>
              </a:ext>
            </a:extLst>
          </p:cNvPr>
          <p:cNvSpPr>
            <a:spLocks xmlns:a="http://schemas.openxmlformats.org/drawingml/2006/main" noGrp="1"/>
          </p:cNvSpPr>
          <p:nvPr/>
        </p:nvSpPr>
        <p:spPr>
          <a:xfrm xmlns:a="http://schemas.openxmlformats.org/drawingml/2006/main">
            <a:off x="609600" y="1400175"/>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725" b="1">
                <a:solidFill>
                  <a:srgbClr val="FFFFFF"/>
                </a:solidFill>
                <a:latin typeface="Georgia"/>
                <a:ea typeface="Georgia"/>
                <a:cs typeface="Georgia"/>
              </a:defRPr>
            </a:pPr>
            <a:r>
              <a:rPr sz="4725" b="1">
                <a:solidFill>
                  <a:srgbClr val="FFFFFF"/>
                </a:solidFill>
                <a:latin typeface="Georgia"/>
                <a:ea typeface="Georgia"/>
                <a:cs typeface="Georgia"/>
              </a:rPr>
              <a:t>Where should</a:t>
            </a:r>
          </a:p>
          <a:p xmlns:a="http://schemas.openxmlformats.org/drawingml/2006/main">
            <a:pPr>
              <a:defRPr sz="4725" b="1">
                <a:solidFill>
                  <a:srgbClr val="FFFFFF"/>
                </a:solidFill>
                <a:latin typeface="Georgia"/>
                <a:ea typeface="Georgia"/>
                <a:cs typeface="Georgia"/>
              </a:defRPr>
            </a:pPr>
            <a:r>
              <a:rPr sz="4725" b="1">
                <a:solidFill>
                  <a:srgbClr val="FFFFFF"/>
                </a:solidFill>
                <a:latin typeface="Georgia"/>
                <a:ea typeface="Georgia"/>
                <a:cs typeface="Georgia"/>
              </a:rPr>
              <a:t>we look first?</a:t>
            </a:r>
          </a:p>
        </p:txBody>
      </p:sp>
      <p:sp>
        <p:nvSpPr>
          <p:cNvPr id="5" name="">
            <a:extLst xmlns:a="http://schemas.openxmlformats.org/drawingml/2006/main">
              <a:ext uri="{FF2B5EF4-FFF2-40B4-BE49-F238E27FC236}">
                <a16:creationId xmlns:a16="http://schemas.microsoft.com/office/drawing/2014/main" id="{90BD07FD-B4A0-4DCB-961E-70FFCF150C58}"/>
              </a:ext>
            </a:extLst>
          </p:cNvPr>
          <p:cNvSpPr>
            <a:spLocks xmlns:a="http://schemas.openxmlformats.org/drawingml/2006/main" noGrp="1"/>
          </p:cNvSpPr>
          <p:nvPr/>
        </p:nvSpPr>
        <p:spPr>
          <a:xfrm xmlns:a="http://schemas.openxmlformats.org/drawingml/2006/main">
            <a:off x="609600" y="3476625"/>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Melbourne Airbnb</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A focused search before signing a lease</a:t>
            </a:r>
          </a:p>
        </p:txBody>
      </p:sp>
      <p:sp>
        <p:nvSpPr>
          <p:cNvPr id="6" name="">
            <a:extLst xmlns:a="http://schemas.openxmlformats.org/drawingml/2006/main">
              <a:ext uri="{FF2B5EF4-FFF2-40B4-BE49-F238E27FC236}">
                <a16:creationId xmlns:a16="http://schemas.microsoft.com/office/drawing/2014/main" id="{35230945-90B5-46C2-A1E6-6C0B6992049F}"/>
              </a:ext>
            </a:extLst>
          </p:cNvPr>
          <p:cNvSpPr>
            <a:spLocks xmlns:a="http://schemas.openxmlformats.org/drawingml/2006/main" noGrp="1"/>
          </p:cNvSpPr>
          <p:nvPr/>
        </p:nvSpPr>
        <p:spPr>
          <a:xfrm xmlns:a="http://schemas.openxmlformats.org/drawingml/2006/main">
            <a:off x="609600" y="4800600"/>
            <a:ext cx="6000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F1B98E"/>
                </a:solidFill>
                <a:latin typeface="Arial"/>
                <a:ea typeface="Arial"/>
                <a:cs typeface="Arial"/>
              </a:defRPr>
            </a:pPr>
            <a:r>
              <a:rPr sz="2325" b="1">
                <a:solidFill>
                  <a:srgbClr val="F1B98E"/>
                </a:solidFill>
                <a:latin typeface="Arial"/>
                <a:ea typeface="Arial"/>
                <a:cs typeface="Arial"/>
              </a:rPr>
              <a:t>Start with City of Melbourne</a:t>
            </a:r>
          </a:p>
          <a:p xmlns:a="http://schemas.openxmlformats.org/drawingml/2006/main">
            <a:pPr>
              <a:defRPr sz="2325" b="1">
                <a:solidFill>
                  <a:srgbClr val="F1B98E"/>
                </a:solidFill>
                <a:latin typeface="Arial"/>
                <a:ea typeface="Arial"/>
                <a:cs typeface="Arial"/>
              </a:defRPr>
            </a:pPr>
            <a:r>
              <a:rPr sz="2325" b="1">
                <a:solidFill>
                  <a:srgbClr val="F1B98E"/>
                </a:solidFill>
                <a:latin typeface="Arial"/>
                <a:ea typeface="Arial"/>
                <a:cs typeface="Arial"/>
              </a:rPr>
              <a:t>2–3-bedroom apartments.</a:t>
            </a:r>
          </a:p>
        </p:txBody>
      </p:sp>
      <p:sp>
        <p:nvSpPr>
          <p:cNvPr id="7" name="">
            <a:extLst xmlns:a="http://schemas.openxmlformats.org/drawingml/2006/main">
              <a:ext uri="{FF2B5EF4-FFF2-40B4-BE49-F238E27FC236}">
                <a16:creationId xmlns:a16="http://schemas.microsoft.com/office/drawing/2014/main" id="{929A9D10-F166-4E2D-88BC-2D6DD095476C}"/>
              </a:ext>
            </a:extLst>
          </p:cNvPr>
          <p:cNvSpPr>
            <a:spLocks xmlns:a="http://schemas.openxmlformats.org/drawingml/2006/main" noGrp="1"/>
          </p:cNvSpPr>
          <p:nvPr/>
        </p:nvSpPr>
        <p:spPr>
          <a:xfrm xmlns:a="http://schemas.openxmlformats.org/drawingml/2006/main">
            <a:off x="609600" y="6067425"/>
            <a:ext cx="819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C6D9D1"/>
                </a:solidFill>
                <a:latin typeface="Arial"/>
                <a:ea typeface="Arial"/>
                <a:cs typeface="Arial"/>
              </a:defRPr>
            </a:pPr>
            <a:r>
              <a:rPr sz="1500" b="0">
                <a:solidFill>
                  <a:srgbClr val="C6D9D1"/>
                </a:solidFill>
                <a:latin typeface="Arial"/>
                <a:ea typeface="Arial"/>
                <a:cs typeface="Arial"/>
              </a:rPr>
              <a:t>Qihang Sun · Maksym Xu · Eric Huang · Loc Le</a:t>
            </a:r>
          </a:p>
        </p:txBody>
      </p:sp>
      <p:sp>
        <p:nvSpPr>
          <p:cNvPr id="8" name="">
            <a:extLst xmlns:a="http://schemas.openxmlformats.org/drawingml/2006/main">
              <a:ext uri="{FF2B5EF4-FFF2-40B4-BE49-F238E27FC236}">
                <a16:creationId xmlns:a16="http://schemas.microsoft.com/office/drawing/2014/main" id="{1E4E1CC3-F2C4-483A-A7B6-9D253D815EA7}"/>
              </a:ext>
            </a:extLst>
          </p:cNvPr>
          <p:cNvSpPr>
            <a:spLocks xmlns:a="http://schemas.openxmlformats.org/drawingml/2006/main" noGrp="1"/>
          </p:cNvSpPr>
          <p:nvPr/>
        </p:nvSpPr>
        <p:spPr>
          <a:xfrm xmlns:a="http://schemas.openxmlformats.org/drawingml/2006/main">
            <a:off x="9963150" y="6477000"/>
            <a:ext cx="1952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C6D9D1"/>
                </a:solidFill>
                <a:latin typeface="Arial"/>
                <a:ea typeface="Arial"/>
                <a:cs typeface="Arial"/>
              </a:defRPr>
            </a:pPr>
            <a:r>
              <a:rPr sz="1050" b="0">
                <a:solidFill>
                  <a:srgbClr val="C6D9D1"/>
                </a:solidFill>
                <a:latin typeface="Arial"/>
                <a:ea typeface="Arial"/>
                <a:cs typeface="Arial"/>
              </a:rPr>
              <a:t>Illustrative 3D render</a:t>
            </a:r>
          </a:p>
        </p:txBody>
      </p:sp>
    </p:spTree>
    <p:extLst>
      <p:ext uri="{BB962C8B-B14F-4D97-AF65-F5344CB8AC3E}">
        <p14:creationId xmlns:p14="http://schemas.microsoft.com/office/powerpoint/2010/main" val="871465241"/>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B8F4BC5-6136-474D-8F7A-267C36F71890}"/>
              </a:ext>
            </a:extLst>
          </p:cNvPr>
          <p:cNvSpPr>
            <a:spLocks xmlns:a="http://schemas.openxmlformats.org/drawingml/2006/main" noGrp="1"/>
          </p:cNvSpPr>
          <p:nvPr/>
        </p:nvSpPr>
        <p:spPr>
          <a:xfrm xmlns:a="http://schemas.openxmlformats.org/drawingml/2006/main">
            <a:off x="609600" y="3048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BD5A32"/>
                </a:solidFill>
                <a:latin typeface="Arial"/>
                <a:ea typeface="Arial"/>
                <a:cs typeface="Arial"/>
              </a:defRPr>
            </a:pPr>
            <a:r>
              <a:rPr sz="1200" b="1">
                <a:solidFill>
                  <a:srgbClr val="BD5A32"/>
                </a:solidFill>
                <a:latin typeface="Arial"/>
                <a:ea typeface="Arial"/>
                <a:cs typeface="Arial"/>
              </a:rPr>
              <a:t>THE CLIENT’S PROBLEM</a:t>
            </a:r>
          </a:p>
        </p:txBody>
      </p:sp>
      <p:sp>
        <p:nvSpPr>
          <p:cNvPr id="2" name="">
            <a:extLst xmlns:a="http://schemas.openxmlformats.org/drawingml/2006/main">
              <a:ext uri="{FF2B5EF4-FFF2-40B4-BE49-F238E27FC236}">
                <a16:creationId xmlns:a16="http://schemas.microsoft.com/office/drawing/2014/main" id="{A9BFCDA8-708F-449D-AEAD-B67D28BAAFC8}"/>
              </a:ext>
            </a:extLst>
          </p:cNvPr>
          <p:cNvSpPr>
            <a:spLocks xmlns:a="http://schemas.openxmlformats.org/drawingml/2006/main" noGrp="1"/>
          </p:cNvSpPr>
          <p:nvPr/>
        </p:nvSpPr>
        <p:spPr>
          <a:xfrm xmlns:a="http://schemas.openxmlformats.org/drawingml/2006/main">
            <a:off x="609600" y="742950"/>
            <a:ext cx="1095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63B36"/>
                </a:solidFill>
                <a:latin typeface="Georgia"/>
                <a:ea typeface="Georgia"/>
                <a:cs typeface="Georgia"/>
              </a:defRPr>
            </a:pPr>
            <a:r>
              <a:rPr sz="3150" b="1">
                <a:solidFill>
                  <a:srgbClr val="163B36"/>
                </a:solidFill>
                <a:latin typeface="Georgia"/>
                <a:ea typeface="Georgia"/>
                <a:cs typeface="Georgia"/>
              </a:rPr>
              <a:t>Choosing a property before costs begin</a:t>
            </a:r>
          </a:p>
        </p:txBody>
      </p:sp>
      <p:sp>
        <p:nvSpPr>
          <p:cNvPr id="3" name="">
            <a:extLst xmlns:a="http://schemas.openxmlformats.org/drawingml/2006/main">
              <a:ext uri="{FF2B5EF4-FFF2-40B4-BE49-F238E27FC236}">
                <a16:creationId xmlns:a16="http://schemas.microsoft.com/office/drawing/2014/main" id="{E40AC15A-41D8-4C6C-B451-D98DC3323471}"/>
              </a:ext>
            </a:extLst>
          </p:cNvPr>
          <p:cNvSpPr>
            <a:spLocks xmlns:a="http://schemas.openxmlformats.org/drawingml/2006/main" noGrp="1"/>
          </p:cNvSpPr>
          <p:nvPr/>
        </p:nvSpPr>
        <p:spPr>
          <a:xfrm xmlns:a="http://schemas.openxmlformats.org/drawingml/2006/main">
            <a:off x="609600" y="64008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58665F"/>
                </a:solidFill>
                <a:latin typeface="Arial"/>
                <a:ea typeface="Arial"/>
                <a:cs typeface="Arial"/>
              </a:defRPr>
            </a:pPr>
            <a:r>
              <a:rPr sz="1050" b="0">
                <a:solidFill>
                  <a:srgbClr val="58665F"/>
                </a:solidFill>
                <a:latin typeface="Arial"/>
                <a:ea typeface="Arial"/>
                <a:cs typeface="Arial"/>
              </a:rPr>
              <a:t>Source: project brief. Review activity supports an initial search before individual property checks.</a:t>
            </a:r>
          </a:p>
        </p:txBody>
      </p:sp>
      <p:sp>
        <p:nvSpPr>
          <p:cNvPr id="4" name="">
            <a:extLst xmlns:a="http://schemas.openxmlformats.org/drawingml/2006/main">
              <a:ext uri="{FF2B5EF4-FFF2-40B4-BE49-F238E27FC236}">
                <a16:creationId xmlns:a16="http://schemas.microsoft.com/office/drawing/2014/main" id="{A2A93E07-0FDC-4ABC-B3BE-88AF194EC417}"/>
              </a:ext>
            </a:extLst>
          </p:cNvPr>
          <p:cNvSpPr>
            <a:spLocks xmlns:a="http://schemas.openxmlformats.org/drawingml/2006/main" noGrp="1"/>
          </p:cNvSpPr>
          <p:nvPr/>
        </p:nvSpPr>
        <p:spPr>
          <a:xfrm xmlns:a="http://schemas.openxmlformats.org/drawingml/2006/main">
            <a:off x="11439525" y="6400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65F"/>
                </a:solidFill>
                <a:latin typeface="Arial"/>
                <a:ea typeface="Arial"/>
                <a:cs typeface="Arial"/>
              </a:defRPr>
            </a:pPr>
            <a:r>
              <a:rPr sz="1125" b="0">
                <a:solidFill>
                  <a:srgbClr val="58665F"/>
                </a:solidFill>
                <a:latin typeface="Arial"/>
                <a:ea typeface="Arial"/>
                <a:cs typeface="Arial"/>
              </a:rPr>
              <a:t>2</a:t>
            </a:r>
          </a:p>
        </p:txBody>
      </p:sp>
      <p:sp>
        <p:nvSpPr>
          <p:cNvPr id="5" name="">
            <a:extLst xmlns:a="http://schemas.openxmlformats.org/drawingml/2006/main">
              <a:ext uri="{FF2B5EF4-FFF2-40B4-BE49-F238E27FC236}">
                <a16:creationId xmlns:a16="http://schemas.microsoft.com/office/drawing/2014/main" id="{FA61723B-69C6-4D09-8443-B4338D5E24DC}"/>
              </a:ext>
            </a:extLst>
          </p:cNvPr>
          <p:cNvSpPr>
            <a:spLocks xmlns:a="http://schemas.openxmlformats.org/drawingml/2006/main" noGrp="1"/>
          </p:cNvSpPr>
          <p:nvPr/>
        </p:nvSpPr>
        <p:spPr>
          <a:xfrm xmlns:a="http://schemas.openxmlformats.org/drawingml/2006/main">
            <a:off x="609600" y="18764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163B36"/>
                </a:solidFill>
                <a:latin typeface="Arial"/>
                <a:ea typeface="Arial"/>
                <a:cs typeface="Arial"/>
              </a:defRPr>
            </a:pPr>
            <a:r>
              <a:rPr sz="2400" b="1">
                <a:solidFill>
                  <a:srgbClr val="163B36"/>
                </a:solidFill>
                <a:latin typeface="Arial"/>
                <a:ea typeface="Arial"/>
                <a:cs typeface="Arial"/>
              </a:rPr>
              <a:t>The client plans to lease homes and offer short stays.</a:t>
            </a:r>
          </a:p>
        </p:txBody>
      </p:sp>
      <p:sp>
        <p:nvSpPr>
          <p:cNvPr id="6" name="">
            <a:extLst xmlns:a="http://schemas.openxmlformats.org/drawingml/2006/main">
              <a:ext uri="{FF2B5EF4-FFF2-40B4-BE49-F238E27FC236}">
                <a16:creationId xmlns:a16="http://schemas.microsoft.com/office/drawing/2014/main" id="{AAF2A9FF-6CB6-4B95-ADB8-292B6F118432}"/>
              </a:ext>
            </a:extLst>
          </p:cNvPr>
          <p:cNvSpPr>
            <a:spLocks xmlns:a="http://schemas.openxmlformats.org/drawingml/2006/main" noGrp="1"/>
          </p:cNvSpPr>
          <p:nvPr/>
        </p:nvSpPr>
        <p:spPr>
          <a:xfrm xmlns:a="http://schemas.openxmlformats.org/drawingml/2006/main">
            <a:off x="609600" y="25622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75" b="1">
                <a:solidFill>
                  <a:srgbClr val="BD5A32"/>
                </a:solidFill>
                <a:latin typeface="Georgia"/>
                <a:ea typeface="Georgia"/>
                <a:cs typeface="Georgia"/>
              </a:defRPr>
            </a:pPr>
            <a:r>
              <a:rPr sz="2775" b="1">
                <a:solidFill>
                  <a:srgbClr val="BD5A32"/>
                </a:solidFill>
                <a:latin typeface="Georgia"/>
                <a:ea typeface="Georgia"/>
                <a:cs typeface="Georgia"/>
              </a:rPr>
              <a:t>Rent stays due when bookings fall.</a:t>
            </a:r>
          </a:p>
        </p:txBody>
      </p:sp>
      <p:sp>
        <p:nvSpPr>
          <p:cNvPr id="7" name="">
            <a:extLst xmlns:a="http://schemas.openxmlformats.org/drawingml/2006/main">
              <a:ext uri="{FF2B5EF4-FFF2-40B4-BE49-F238E27FC236}">
                <a16:creationId xmlns:a16="http://schemas.microsoft.com/office/drawing/2014/main" id="{95A85CFA-AD2F-4341-BF63-4B341144A423}"/>
              </a:ext>
            </a:extLst>
          </p:cNvPr>
          <p:cNvSpPr>
            <a:spLocks xmlns:a="http://schemas.openxmlformats.org/drawingml/2006/main" noGrp="1"/>
          </p:cNvSpPr>
          <p:nvPr/>
        </p:nvSpPr>
        <p:spPr>
          <a:xfrm xmlns:a="http://schemas.openxmlformats.org/drawingml/2006/main">
            <a:off x="609600" y="3676650"/>
            <a:ext cx="466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237E72"/>
                </a:solidFill>
                <a:latin typeface="Arial"/>
                <a:ea typeface="Arial"/>
                <a:cs typeface="Arial"/>
              </a:defRPr>
            </a:pPr>
            <a:r>
              <a:rPr sz="1500" b="1">
                <a:solidFill>
                  <a:srgbClr val="237E72"/>
                </a:solidFill>
                <a:latin typeface="Arial"/>
                <a:ea typeface="Arial"/>
                <a:cs typeface="Arial"/>
              </a:rPr>
              <a:t>THE BUSINESS QUESTION</a:t>
            </a:r>
          </a:p>
        </p:txBody>
      </p:sp>
      <p:sp>
        <p:nvSpPr>
          <p:cNvPr id="8" name="">
            <a:extLst xmlns:a="http://schemas.openxmlformats.org/drawingml/2006/main">
              <a:ext uri="{FF2B5EF4-FFF2-40B4-BE49-F238E27FC236}">
                <a16:creationId xmlns:a16="http://schemas.microsoft.com/office/drawing/2014/main" id="{D6CDE256-55A3-4D69-B0A5-55B933357E26}"/>
              </a:ext>
            </a:extLst>
          </p:cNvPr>
          <p:cNvSpPr>
            <a:spLocks xmlns:a="http://schemas.openxmlformats.org/drawingml/2006/main" noGrp="1"/>
          </p:cNvSpPr>
          <p:nvPr/>
        </p:nvSpPr>
        <p:spPr>
          <a:xfrm xmlns:a="http://schemas.openxmlformats.org/drawingml/2006/main">
            <a:off x="609600" y="4229100"/>
            <a:ext cx="5524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1">
                <a:solidFill>
                  <a:srgbClr val="163B36"/>
                </a:solidFill>
                <a:latin typeface="Arial"/>
                <a:ea typeface="Arial"/>
                <a:cs typeface="Arial"/>
              </a:defRPr>
            </a:pPr>
            <a:r>
              <a:rPr sz="2850" b="1">
                <a:solidFill>
                  <a:srgbClr val="163B36"/>
                </a:solidFill>
                <a:latin typeface="Arial"/>
                <a:ea typeface="Arial"/>
                <a:cs typeface="Arial"/>
              </a:rPr>
              <a:t>Which homes deserve</a:t>
            </a:r>
          </a:p>
          <a:p xmlns:a="http://schemas.openxmlformats.org/drawingml/2006/main">
            <a:pPr>
              <a:defRPr sz="2850" b="1">
                <a:solidFill>
                  <a:srgbClr val="163B36"/>
                </a:solidFill>
                <a:latin typeface="Arial"/>
                <a:ea typeface="Arial"/>
                <a:cs typeface="Arial"/>
              </a:defRPr>
            </a:pPr>
            <a:r>
              <a:rPr sz="2850" b="1">
                <a:solidFill>
                  <a:srgbClr val="163B36"/>
                </a:solidFill>
                <a:latin typeface="Arial"/>
                <a:ea typeface="Arial"/>
                <a:cs typeface="Arial"/>
              </a:rPr>
              <a:t>our limited search time?</a:t>
            </a:r>
          </a:p>
        </p:txBody>
      </p:sp>
      <p:sp>
        <p:nvSpPr>
          <p:cNvPr id="9" name="">
            <a:extLst xmlns:a="http://schemas.openxmlformats.org/drawingml/2006/main">
              <a:ext uri="{FF2B5EF4-FFF2-40B4-BE49-F238E27FC236}">
                <a16:creationId xmlns:a16="http://schemas.microsoft.com/office/drawing/2014/main" id="{F063CDEB-158B-416B-AD76-CFB93A50C842}"/>
              </a:ext>
            </a:extLst>
          </p:cNvPr>
          <p:cNvSpPr>
            <a:spLocks xmlns:a="http://schemas.openxmlformats.org/drawingml/2006/main" noGrp="1"/>
          </p:cNvSpPr>
          <p:nvPr/>
        </p:nvSpPr>
        <p:spPr>
          <a:xfrm xmlns:a="http://schemas.openxmlformats.org/drawingml/2006/main">
            <a:off x="7162800" y="3676650"/>
            <a:ext cx="442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237E72"/>
                </a:solidFill>
                <a:latin typeface="Arial"/>
                <a:ea typeface="Arial"/>
                <a:cs typeface="Arial"/>
              </a:defRPr>
            </a:pPr>
            <a:r>
              <a:rPr sz="1500" b="1">
                <a:solidFill>
                  <a:srgbClr val="237E72"/>
                </a:solidFill>
                <a:latin typeface="Arial"/>
                <a:ea typeface="Arial"/>
                <a:cs typeface="Arial"/>
              </a:rPr>
              <a:t>THE ANALYTICAL QUESTION</a:t>
            </a:r>
          </a:p>
        </p:txBody>
      </p:sp>
      <p:sp>
        <p:nvSpPr>
          <p:cNvPr id="10" name="">
            <a:extLst xmlns:a="http://schemas.openxmlformats.org/drawingml/2006/main">
              <a:ext uri="{FF2B5EF4-FFF2-40B4-BE49-F238E27FC236}">
                <a16:creationId xmlns:a16="http://schemas.microsoft.com/office/drawing/2014/main" id="{6F37EA0A-2729-47A7-82B5-068B95E2E85B}"/>
              </a:ext>
            </a:extLst>
          </p:cNvPr>
          <p:cNvSpPr>
            <a:spLocks xmlns:a="http://schemas.openxmlformats.org/drawingml/2006/main" noGrp="1"/>
          </p:cNvSpPr>
          <p:nvPr/>
        </p:nvSpPr>
        <p:spPr>
          <a:xfrm xmlns:a="http://schemas.openxmlformats.org/drawingml/2006/main">
            <a:off x="7162800" y="4229100"/>
            <a:ext cx="4381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63B36"/>
                </a:solidFill>
                <a:latin typeface="Arial"/>
                <a:ea typeface="Arial"/>
                <a:cs typeface="Arial"/>
              </a:defRPr>
            </a:pPr>
            <a:r>
              <a:rPr sz="2325" b="0">
                <a:solidFill>
                  <a:srgbClr val="163B36"/>
                </a:solidFill>
                <a:latin typeface="Arial"/>
                <a:ea typeface="Arial"/>
                <a:cs typeface="Arial"/>
              </a:rPr>
              <a:t>Which property features relate</a:t>
            </a:r>
          </a:p>
          <a:p xmlns:a="http://schemas.openxmlformats.org/drawingml/2006/main">
            <a:pPr>
              <a:defRPr sz="2325" b="0">
                <a:solidFill>
                  <a:srgbClr val="163B36"/>
                </a:solidFill>
                <a:latin typeface="Arial"/>
                <a:ea typeface="Arial"/>
                <a:cs typeface="Arial"/>
              </a:defRPr>
            </a:pPr>
            <a:r>
              <a:rPr sz="2325" b="0">
                <a:solidFill>
                  <a:srgbClr val="163B36"/>
                </a:solidFill>
                <a:latin typeface="Arial"/>
                <a:ea typeface="Arial"/>
                <a:cs typeface="Arial"/>
              </a:rPr>
              <a:t>to stronger past review activity?</a:t>
            </a:r>
          </a:p>
        </p:txBody>
      </p:sp>
      <p:sp>
        <p:nvSpPr>
          <p:cNvPr id="11" name="">
            <a:extLst xmlns:a="http://schemas.openxmlformats.org/drawingml/2006/main">
              <a:ext uri="{FF2B5EF4-FFF2-40B4-BE49-F238E27FC236}">
                <a16:creationId xmlns:a16="http://schemas.microsoft.com/office/drawing/2014/main" id="{B70BDD38-9E11-413D-AAF1-2E434B43F575}"/>
              </a:ext>
            </a:extLst>
          </p:cNvPr>
          <p:cNvSpPr>
            <a:spLocks xmlns:a="http://schemas.openxmlformats.org/drawingml/2006/main" noGrp="1"/>
          </p:cNvSpPr>
          <p:nvPr/>
        </p:nvSpPr>
        <p:spPr>
          <a:xfrm xmlns:a="http://schemas.openxmlformats.org/drawingml/2006/main">
            <a:off x="609600" y="5781675"/>
            <a:ext cx="1095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37E72"/>
                </a:solidFill>
                <a:latin typeface="Arial"/>
                <a:ea typeface="Arial"/>
                <a:cs typeface="Arial"/>
              </a:defRPr>
            </a:pPr>
            <a:r>
              <a:rPr sz="2025" b="0">
                <a:solidFill>
                  <a:srgbClr val="237E72"/>
                </a:solidFill>
                <a:latin typeface="Arial"/>
                <a:ea typeface="Arial"/>
                <a:cs typeface="Arial"/>
              </a:rPr>
              <a:t>A useful shortlist comes before permissions, quotes and a lease decision.</a:t>
            </a:r>
          </a:p>
        </p:txBody>
      </p:sp>
    </p:spTree>
    <p:extLst>
      <p:ext uri="{BB962C8B-B14F-4D97-AF65-F5344CB8AC3E}">
        <p14:creationId xmlns:p14="http://schemas.microsoft.com/office/powerpoint/2010/main" val="2032104852"/>
      </p:ext>
    </p:extLst>
  </p:cSld>
  <p:transition spd="med" advClick="1">
    <p:fade/>
  </p:transition>
</p:sld>
</file>

<file path=ppt/slides/slide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91A44D9-9E0A-4857-8826-331E5CA48419}"/>
              </a:ext>
            </a:extLst>
          </p:cNvPr>
          <p:cNvSpPr>
            <a:spLocks xmlns:a="http://schemas.openxmlformats.org/drawingml/2006/main" noGrp="1"/>
          </p:cNvSpPr>
          <p:nvPr/>
        </p:nvSpPr>
        <p:spPr>
          <a:xfrm xmlns:a="http://schemas.openxmlformats.org/drawingml/2006/main">
            <a:off x="609600" y="3048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BD5A32"/>
                </a:solidFill>
                <a:latin typeface="Arial"/>
                <a:ea typeface="Arial"/>
                <a:cs typeface="Arial"/>
              </a:defRPr>
            </a:pPr>
            <a:r>
              <a:rPr sz="1200" b="1">
                <a:solidFill>
                  <a:srgbClr val="BD5A32"/>
                </a:solidFill>
                <a:latin typeface="Arial"/>
                <a:ea typeface="Arial"/>
                <a:cs typeface="Arial"/>
              </a:rPr>
              <a:t>DATA AND MEASURE</a:t>
            </a:r>
          </a:p>
        </p:txBody>
      </p:sp>
      <p:sp>
        <p:nvSpPr>
          <p:cNvPr id="2" name="">
            <a:extLst xmlns:a="http://schemas.openxmlformats.org/drawingml/2006/main">
              <a:ext uri="{FF2B5EF4-FFF2-40B4-BE49-F238E27FC236}">
                <a16:creationId xmlns:a16="http://schemas.microsoft.com/office/drawing/2014/main" id="{8415ADEB-EE87-41E4-B44E-7CD19F99770A}"/>
              </a:ext>
            </a:extLst>
          </p:cNvPr>
          <p:cNvSpPr>
            <a:spLocks xmlns:a="http://schemas.openxmlformats.org/drawingml/2006/main" noGrp="1"/>
          </p:cNvSpPr>
          <p:nvPr/>
        </p:nvSpPr>
        <p:spPr>
          <a:xfrm xmlns:a="http://schemas.openxmlformats.org/drawingml/2006/main">
            <a:off x="609600" y="742950"/>
            <a:ext cx="1095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63B36"/>
                </a:solidFill>
                <a:latin typeface="Georgia"/>
                <a:ea typeface="Georgia"/>
                <a:cs typeface="Georgia"/>
              </a:defRPr>
            </a:pPr>
            <a:r>
              <a:rPr sz="3150" b="1">
                <a:solidFill>
                  <a:srgbClr val="163B36"/>
                </a:solidFill>
                <a:latin typeface="Georgia"/>
                <a:ea typeface="Georgia"/>
                <a:cs typeface="Georgia"/>
              </a:rPr>
              <a:t>A fair comparison starts with similar homes</a:t>
            </a:r>
          </a:p>
        </p:txBody>
      </p:sp>
      <p:sp>
        <p:nvSpPr>
          <p:cNvPr id="3" name="">
            <a:extLst xmlns:a="http://schemas.openxmlformats.org/drawingml/2006/main">
              <a:ext uri="{FF2B5EF4-FFF2-40B4-BE49-F238E27FC236}">
                <a16:creationId xmlns:a16="http://schemas.microsoft.com/office/drawing/2014/main" id="{77729408-53C8-4CF9-8238-E943426D177E}"/>
              </a:ext>
            </a:extLst>
          </p:cNvPr>
          <p:cNvSpPr>
            <a:spLocks xmlns:a="http://schemas.openxmlformats.org/drawingml/2006/main" noGrp="1"/>
          </p:cNvSpPr>
          <p:nvPr/>
        </p:nvSpPr>
        <p:spPr>
          <a:xfrm xmlns:a="http://schemas.openxmlformats.org/drawingml/2006/main">
            <a:off x="609600" y="64008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58665F"/>
                </a:solidFill>
                <a:latin typeface="Arial"/>
                <a:ea typeface="Arial"/>
                <a:cs typeface="Arial"/>
              </a:defRPr>
            </a:pPr>
            <a:r>
              <a:rPr sz="1050" b="0">
                <a:solidFill>
                  <a:srgbClr val="58665F"/>
                </a:solidFill>
                <a:latin typeface="Arial"/>
                <a:ea typeface="Arial"/>
                <a:cs typeface="Arial"/>
              </a:rPr>
              <a:t>Source: subject-supplied Inside Airbnb data, collected 17 Jun–1 Jul 2026.</a:t>
            </a:r>
          </a:p>
        </p:txBody>
      </p:sp>
      <p:sp>
        <p:nvSpPr>
          <p:cNvPr id="4" name="">
            <a:extLst xmlns:a="http://schemas.openxmlformats.org/drawingml/2006/main">
              <a:ext uri="{FF2B5EF4-FFF2-40B4-BE49-F238E27FC236}">
                <a16:creationId xmlns:a16="http://schemas.microsoft.com/office/drawing/2014/main" id="{140E0ECF-D872-4CC1-B215-FD488286B111}"/>
              </a:ext>
            </a:extLst>
          </p:cNvPr>
          <p:cNvSpPr>
            <a:spLocks xmlns:a="http://schemas.openxmlformats.org/drawingml/2006/main" noGrp="1"/>
          </p:cNvSpPr>
          <p:nvPr/>
        </p:nvSpPr>
        <p:spPr>
          <a:xfrm xmlns:a="http://schemas.openxmlformats.org/drawingml/2006/main">
            <a:off x="11439525" y="6400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65F"/>
                </a:solidFill>
                <a:latin typeface="Arial"/>
                <a:ea typeface="Arial"/>
                <a:cs typeface="Arial"/>
              </a:defRPr>
            </a:pPr>
            <a:r>
              <a:rPr sz="1125" b="0">
                <a:solidFill>
                  <a:srgbClr val="58665F"/>
                </a:solidFill>
                <a:latin typeface="Arial"/>
                <a:ea typeface="Arial"/>
                <a:cs typeface="Arial"/>
              </a:rPr>
              <a:t>3</a:t>
            </a:r>
          </a:p>
        </p:txBody>
      </p:sp>
      <p:sp>
        <p:nvSpPr>
          <p:cNvPr id="5" name="">
            <a:extLst xmlns:a="http://schemas.openxmlformats.org/drawingml/2006/main">
              <a:ext uri="{FF2B5EF4-FFF2-40B4-BE49-F238E27FC236}">
                <a16:creationId xmlns:a16="http://schemas.microsoft.com/office/drawing/2014/main" id="{618ED37D-B9F0-4EE3-AA6A-38385D86343C}"/>
              </a:ext>
            </a:extLst>
          </p:cNvPr>
          <p:cNvSpPr>
            <a:spLocks xmlns:a="http://schemas.openxmlformats.org/drawingml/2006/main" noGrp="1"/>
          </p:cNvSpPr>
          <p:nvPr/>
        </p:nvSpPr>
        <p:spPr>
          <a:xfrm xmlns:a="http://schemas.openxmlformats.org/drawingml/2006/main">
            <a:off x="609600" y="1857375"/>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75" b="1">
                <a:solidFill>
                  <a:srgbClr val="58665F"/>
                </a:solidFill>
                <a:latin typeface="Arial"/>
                <a:ea typeface="Arial"/>
                <a:cs typeface="Arial"/>
              </a:defRPr>
            </a:pPr>
            <a:r>
              <a:rPr sz="4575" b="1">
                <a:solidFill>
                  <a:srgbClr val="58665F"/>
                </a:solidFill>
                <a:latin typeface="Arial"/>
                <a:ea typeface="Arial"/>
                <a:cs typeface="Arial"/>
              </a:rPr>
              <a:t>25,728</a:t>
            </a:r>
          </a:p>
        </p:txBody>
      </p:sp>
      <p:sp>
        <p:nvSpPr>
          <p:cNvPr id="6" name="">
            <a:extLst xmlns:a="http://schemas.openxmlformats.org/drawingml/2006/main">
              <a:ext uri="{FF2B5EF4-FFF2-40B4-BE49-F238E27FC236}">
                <a16:creationId xmlns:a16="http://schemas.microsoft.com/office/drawing/2014/main" id="{F93A79DD-A31F-4A93-B51B-2F89D3CD2136}"/>
              </a:ext>
            </a:extLst>
          </p:cNvPr>
          <p:cNvSpPr>
            <a:spLocks xmlns:a="http://schemas.openxmlformats.org/drawingml/2006/main" noGrp="1"/>
          </p:cNvSpPr>
          <p:nvPr/>
        </p:nvSpPr>
        <p:spPr>
          <a:xfrm xmlns:a="http://schemas.openxmlformats.org/drawingml/2006/main">
            <a:off x="609600" y="26670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8665F"/>
                </a:solidFill>
                <a:latin typeface="Arial"/>
                <a:ea typeface="Arial"/>
                <a:cs typeface="Arial"/>
              </a:defRPr>
            </a:pPr>
            <a:r>
              <a:rPr sz="1875" b="0">
                <a:solidFill>
                  <a:srgbClr val="58665F"/>
                </a:solidFill>
                <a:latin typeface="Arial"/>
                <a:ea typeface="Arial"/>
                <a:cs typeface="Arial"/>
              </a:rPr>
              <a:t>source listings</a:t>
            </a:r>
          </a:p>
        </p:txBody>
      </p:sp>
      <p:sp>
        <p:nvSpPr>
          <p:cNvPr id="7" name="">
            <a:extLst xmlns:a="http://schemas.openxmlformats.org/drawingml/2006/main">
              <a:ext uri="{FF2B5EF4-FFF2-40B4-BE49-F238E27FC236}">
                <a16:creationId xmlns:a16="http://schemas.microsoft.com/office/drawing/2014/main" id="{9BFCD0E7-59B1-4E19-A75A-05DEBF07D36C}"/>
              </a:ext>
            </a:extLst>
          </p:cNvPr>
          <p:cNvSpPr>
            <a:spLocks xmlns:a="http://schemas.openxmlformats.org/drawingml/2006/main" noGrp="1"/>
          </p:cNvSpPr>
          <p:nvPr/>
        </p:nvSpPr>
        <p:spPr>
          <a:xfrm xmlns:a="http://schemas.openxmlformats.org/drawingml/2006/main">
            <a:off x="4438650" y="1857375"/>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75" b="1">
                <a:solidFill>
                  <a:srgbClr val="237E72"/>
                </a:solidFill>
                <a:latin typeface="Arial"/>
                <a:ea typeface="Arial"/>
                <a:cs typeface="Arial"/>
              </a:defRPr>
            </a:pPr>
            <a:r>
              <a:rPr sz="4575" b="1">
                <a:solidFill>
                  <a:srgbClr val="237E72"/>
                </a:solidFill>
                <a:latin typeface="Arial"/>
                <a:ea typeface="Arial"/>
                <a:cs typeface="Arial"/>
              </a:rPr>
              <a:t>3,873</a:t>
            </a:r>
          </a:p>
        </p:txBody>
      </p:sp>
      <p:sp>
        <p:nvSpPr>
          <p:cNvPr id="8" name="">
            <a:extLst xmlns:a="http://schemas.openxmlformats.org/drawingml/2006/main">
              <a:ext uri="{FF2B5EF4-FFF2-40B4-BE49-F238E27FC236}">
                <a16:creationId xmlns:a16="http://schemas.microsoft.com/office/drawing/2014/main" id="{D4639EC0-4052-4269-97CE-876073614E84}"/>
              </a:ext>
            </a:extLst>
          </p:cNvPr>
          <p:cNvSpPr>
            <a:spLocks xmlns:a="http://schemas.openxmlformats.org/drawingml/2006/main" noGrp="1"/>
          </p:cNvSpPr>
          <p:nvPr/>
        </p:nvSpPr>
        <p:spPr>
          <a:xfrm xmlns:a="http://schemas.openxmlformats.org/drawingml/2006/main">
            <a:off x="4438650" y="26670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8665F"/>
                </a:solidFill>
                <a:latin typeface="Arial"/>
                <a:ea typeface="Arial"/>
                <a:cs typeface="Arial"/>
              </a:defRPr>
            </a:pPr>
            <a:r>
              <a:rPr sz="1875" b="0">
                <a:solidFill>
                  <a:srgbClr val="58665F"/>
                </a:solidFill>
                <a:latin typeface="Arial"/>
                <a:ea typeface="Arial"/>
                <a:cs typeface="Arial"/>
              </a:rPr>
              <a:t>comparable listings</a:t>
            </a:r>
          </a:p>
        </p:txBody>
      </p:sp>
      <p:sp>
        <p:nvSpPr>
          <p:cNvPr id="9" name="">
            <a:extLst xmlns:a="http://schemas.openxmlformats.org/drawingml/2006/main">
              <a:ext uri="{FF2B5EF4-FFF2-40B4-BE49-F238E27FC236}">
                <a16:creationId xmlns:a16="http://schemas.microsoft.com/office/drawing/2014/main" id="{900D1A18-6D3D-4D8E-A72A-FC865B9C6581}"/>
              </a:ext>
            </a:extLst>
          </p:cNvPr>
          <p:cNvSpPr>
            <a:spLocks xmlns:a="http://schemas.openxmlformats.org/drawingml/2006/main" noGrp="1"/>
          </p:cNvSpPr>
          <p:nvPr/>
        </p:nvSpPr>
        <p:spPr>
          <a:xfrm xmlns:a="http://schemas.openxmlformats.org/drawingml/2006/main">
            <a:off x="8353425" y="1857375"/>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75" b="1">
                <a:solidFill>
                  <a:srgbClr val="237E72"/>
                </a:solidFill>
                <a:latin typeface="Arial"/>
                <a:ea typeface="Arial"/>
                <a:cs typeface="Arial"/>
              </a:defRPr>
            </a:pPr>
            <a:r>
              <a:rPr sz="4575" b="1">
                <a:solidFill>
                  <a:srgbClr val="237E72"/>
                </a:solidFill>
                <a:latin typeface="Arial"/>
                <a:ea typeface="Arial"/>
                <a:cs typeface="Arial"/>
              </a:rPr>
              <a:t>1,726</a:t>
            </a:r>
          </a:p>
        </p:txBody>
      </p:sp>
      <p:sp>
        <p:nvSpPr>
          <p:cNvPr id="10" name="">
            <a:extLst xmlns:a="http://schemas.openxmlformats.org/drawingml/2006/main">
              <a:ext uri="{FF2B5EF4-FFF2-40B4-BE49-F238E27FC236}">
                <a16:creationId xmlns:a16="http://schemas.microsoft.com/office/drawing/2014/main" id="{CF873231-1996-45FA-951E-41AE2DC571C0}"/>
              </a:ext>
            </a:extLst>
          </p:cNvPr>
          <p:cNvSpPr>
            <a:spLocks xmlns:a="http://schemas.openxmlformats.org/drawingml/2006/main" noGrp="1"/>
          </p:cNvSpPr>
          <p:nvPr/>
        </p:nvSpPr>
        <p:spPr>
          <a:xfrm xmlns:a="http://schemas.openxmlformats.org/drawingml/2006/main">
            <a:off x="8353425" y="26670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8665F"/>
                </a:solidFill>
                <a:latin typeface="Arial"/>
                <a:ea typeface="Arial"/>
                <a:cs typeface="Arial"/>
              </a:defRPr>
            </a:pPr>
            <a:r>
              <a:rPr sz="1875" b="0">
                <a:solidFill>
                  <a:srgbClr val="58665F"/>
                </a:solidFill>
                <a:latin typeface="Arial"/>
                <a:ea typeface="Arial"/>
                <a:cs typeface="Arial"/>
              </a:rPr>
              <a:t>distinct hosts</a:t>
            </a:r>
          </a:p>
        </p:txBody>
      </p:sp>
      <p:sp>
        <p:nvSpPr>
          <p:cNvPr id="11" name="">
            <a:extLst xmlns:a="http://schemas.openxmlformats.org/drawingml/2006/main">
              <a:ext uri="{FF2B5EF4-FFF2-40B4-BE49-F238E27FC236}">
                <a16:creationId xmlns:a16="http://schemas.microsoft.com/office/drawing/2014/main" id="{A8A7F611-8AF8-4333-A4F6-613BFD1FE676}"/>
              </a:ext>
            </a:extLst>
          </p:cNvPr>
          <p:cNvSpPr>
            <a:spLocks xmlns:a="http://schemas.openxmlformats.org/drawingml/2006/main" noGrp="1"/>
          </p:cNvSpPr>
          <p:nvPr/>
        </p:nvSpPr>
        <p:spPr>
          <a:xfrm xmlns:a="http://schemas.openxmlformats.org/drawingml/2006/main">
            <a:off x="609600" y="3429000"/>
            <a:ext cx="10858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63B36"/>
                </a:solidFill>
                <a:latin typeface="Arial"/>
                <a:ea typeface="Arial"/>
                <a:cs typeface="Arial"/>
              </a:defRPr>
            </a:pPr>
            <a:r>
              <a:rPr sz="2250" b="0">
                <a:solidFill>
                  <a:srgbClr val="163B36"/>
                </a:solidFill>
                <a:latin typeface="Arial"/>
                <a:ea typeface="Arial"/>
                <a:cs typeface="Arial"/>
              </a:rPr>
              <a:t>Entire apartments and houses, 1–3 bedrooms, usable prices</a:t>
            </a:r>
          </a:p>
          <a:p xmlns:a="http://schemas.openxmlformats.org/drawingml/2006/main">
            <a:pPr>
              <a:defRPr sz="2250" b="0">
                <a:solidFill>
                  <a:srgbClr val="163B36"/>
                </a:solidFill>
                <a:latin typeface="Arial"/>
                <a:ea typeface="Arial"/>
                <a:cs typeface="Arial"/>
              </a:defRPr>
            </a:pPr>
            <a:r>
              <a:rPr sz="2250" b="0">
                <a:solidFill>
                  <a:srgbClr val="163B36"/>
                </a:solidFill>
                <a:latin typeface="Arial"/>
                <a:ea typeface="Arial"/>
                <a:cs typeface="Arial"/>
              </a:rPr>
              <a:t>and at least one year since the first recorded review.</a:t>
            </a:r>
          </a:p>
        </p:txBody>
      </p:sp>
      <p:sp>
        <p:nvSpPr>
          <p:cNvPr id="12" name="">
            <a:extLst xmlns:a="http://schemas.openxmlformats.org/drawingml/2006/main">
              <a:ext uri="{FF2B5EF4-FFF2-40B4-BE49-F238E27FC236}">
                <a16:creationId xmlns:a16="http://schemas.microsoft.com/office/drawing/2014/main" id="{799FD9E4-ECC9-452D-8546-22B7CF2B31F3}"/>
              </a:ext>
            </a:extLst>
          </p:cNvPr>
          <p:cNvSpPr>
            <a:spLocks xmlns:a="http://schemas.openxmlformats.org/drawingml/2006/main" noGrp="1"/>
          </p:cNvSpPr>
          <p:nvPr/>
        </p:nvSpPr>
        <p:spPr>
          <a:xfrm xmlns:a="http://schemas.openxmlformats.org/drawingml/2006/main">
            <a:off x="609600" y="46005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1">
                <a:solidFill>
                  <a:srgbClr val="163B36"/>
                </a:solidFill>
                <a:latin typeface="Arial"/>
                <a:ea typeface="Arial"/>
                <a:cs typeface="Arial"/>
              </a:defRPr>
            </a:pPr>
            <a:r>
              <a:rPr sz="2700" b="1">
                <a:solidFill>
                  <a:srgbClr val="163B36"/>
                </a:solidFill>
                <a:latin typeface="Arial"/>
                <a:ea typeface="Arial"/>
                <a:cs typeface="Arial"/>
              </a:rPr>
              <a:t>Our outcome: 30+ reviews in the previous 365 days.</a:t>
            </a:r>
          </a:p>
        </p:txBody>
      </p:sp>
      <p:sp>
        <p:nvSpPr>
          <p:cNvPr id="13" name="">
            <a:extLst xmlns:a="http://schemas.openxmlformats.org/drawingml/2006/main">
              <a:ext uri="{FF2B5EF4-FFF2-40B4-BE49-F238E27FC236}">
                <a16:creationId xmlns:a16="http://schemas.microsoft.com/office/drawing/2014/main" id="{481EA78C-B873-48E1-A508-6EDE0560D230}"/>
              </a:ext>
            </a:extLst>
          </p:cNvPr>
          <p:cNvSpPr>
            <a:spLocks xmlns:a="http://schemas.openxmlformats.org/drawingml/2006/main" noGrp="1"/>
          </p:cNvSpPr>
          <p:nvPr/>
        </p:nvSpPr>
        <p:spPr>
          <a:xfrm xmlns:a="http://schemas.openxmlformats.org/drawingml/2006/main">
            <a:off x="609600" y="545782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37E72"/>
                </a:solidFill>
                <a:latin typeface="Arial"/>
                <a:ea typeface="Arial"/>
                <a:cs typeface="Arial"/>
              </a:defRPr>
            </a:pPr>
            <a:r>
              <a:rPr sz="2025" b="0">
                <a:solidFill>
                  <a:srgbClr val="237E72"/>
                </a:solidFill>
                <a:latin typeface="Arial"/>
                <a:ea typeface="Arial"/>
                <a:cs typeface="Arial"/>
              </a:rPr>
              <a:t>906 separate reference listings set the cutoff.</a:t>
            </a:r>
          </a:p>
          <a:p xmlns:a="http://schemas.openxmlformats.org/drawingml/2006/main">
            <a:pPr>
              <a:defRPr sz="2025" b="0">
                <a:solidFill>
                  <a:srgbClr val="237E72"/>
                </a:solidFill>
                <a:latin typeface="Arial"/>
                <a:ea typeface="Arial"/>
                <a:cs typeface="Arial"/>
              </a:defRPr>
            </a:pPr>
            <a:r>
              <a:rPr sz="2025" b="0">
                <a:solidFill>
                  <a:srgbClr val="237E72"/>
                </a:solidFill>
                <a:latin typeface="Arial"/>
                <a:ea typeface="Arial"/>
                <a:cs typeface="Arial"/>
              </a:rPr>
              <a:t>25.3% of the analysis sample met it.</a:t>
            </a:r>
          </a:p>
        </p:txBody>
      </p:sp>
    </p:spTree>
    <p:extLst>
      <p:ext uri="{BB962C8B-B14F-4D97-AF65-F5344CB8AC3E}">
        <p14:creationId xmlns:p14="http://schemas.microsoft.com/office/powerpoint/2010/main" val="303130801"/>
      </p:ext>
    </p:extLst>
  </p:cSld>
  <p:transition spd="med" advClick="1">
    <p:fade/>
  </p:transition>
</p:sld>
</file>

<file path=ppt/slides/slide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581636B-64BF-44BF-9523-579BDB16F89D}"/>
              </a:ext>
            </a:extLst>
          </p:cNvPr>
          <p:cNvSpPr>
            <a:spLocks xmlns:a="http://schemas.openxmlformats.org/drawingml/2006/main" noGrp="1"/>
          </p:cNvSpPr>
          <p:nvPr/>
        </p:nvSpPr>
        <p:spPr>
          <a:xfrm xmlns:a="http://schemas.openxmlformats.org/drawingml/2006/main">
            <a:off x="609600" y="3048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BD5A32"/>
                </a:solidFill>
                <a:latin typeface="Arial"/>
                <a:ea typeface="Arial"/>
                <a:cs typeface="Arial"/>
              </a:defRPr>
            </a:pPr>
            <a:r>
              <a:rPr sz="1200" b="1">
                <a:solidFill>
                  <a:srgbClr val="BD5A32"/>
                </a:solidFill>
                <a:latin typeface="Arial"/>
                <a:ea typeface="Arial"/>
                <a:cs typeface="Arial"/>
              </a:rPr>
              <a:t>FINDING 1 · WHERE TO SEARCH</a:t>
            </a:r>
          </a:p>
        </p:txBody>
      </p:sp>
      <p:sp>
        <p:nvSpPr>
          <p:cNvPr id="2" name="">
            <a:extLst xmlns:a="http://schemas.openxmlformats.org/drawingml/2006/main">
              <a:ext uri="{FF2B5EF4-FFF2-40B4-BE49-F238E27FC236}">
                <a16:creationId xmlns:a16="http://schemas.microsoft.com/office/drawing/2014/main" id="{EBB11FBF-7508-4D09-A24B-80DFFDF77541}"/>
              </a:ext>
            </a:extLst>
          </p:cNvPr>
          <p:cNvSpPr>
            <a:spLocks xmlns:a="http://schemas.openxmlformats.org/drawingml/2006/main" noGrp="1"/>
          </p:cNvSpPr>
          <p:nvPr/>
        </p:nvSpPr>
        <p:spPr>
          <a:xfrm xmlns:a="http://schemas.openxmlformats.org/drawingml/2006/main">
            <a:off x="609600" y="742950"/>
            <a:ext cx="1095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63B36"/>
                </a:solidFill>
                <a:latin typeface="Georgia"/>
                <a:ea typeface="Georgia"/>
                <a:cs typeface="Georgia"/>
              </a:defRPr>
            </a:pPr>
            <a:r>
              <a:rPr sz="3150" b="1">
                <a:solidFill>
                  <a:srgbClr val="163B36"/>
                </a:solidFill>
                <a:latin typeface="Georgia"/>
                <a:ea typeface="Georgia"/>
                <a:cs typeface="Georgia"/>
              </a:rPr>
              <a:t>City of Melbourne apartments lead the search</a:t>
            </a:r>
          </a:p>
        </p:txBody>
      </p:sp>
      <p:sp>
        <p:nvSpPr>
          <p:cNvPr id="3" name="">
            <a:extLst xmlns:a="http://schemas.openxmlformats.org/drawingml/2006/main">
              <a:ext uri="{FF2B5EF4-FFF2-40B4-BE49-F238E27FC236}">
                <a16:creationId xmlns:a16="http://schemas.microsoft.com/office/drawing/2014/main" id="{4EEB7D64-C766-46DB-BDA0-88884FD214B4}"/>
              </a:ext>
            </a:extLst>
          </p:cNvPr>
          <p:cNvSpPr>
            <a:spLocks xmlns:a="http://schemas.openxmlformats.org/drawingml/2006/main" noGrp="1"/>
          </p:cNvSpPr>
          <p:nvPr/>
        </p:nvSpPr>
        <p:spPr>
          <a:xfrm xmlns:a="http://schemas.openxmlformats.org/drawingml/2006/main">
            <a:off x="609600" y="64008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58665F"/>
                </a:solidFill>
                <a:latin typeface="Arial"/>
                <a:ea typeface="Arial"/>
                <a:cs typeface="Arial"/>
              </a:defRPr>
            </a:pPr>
            <a:r>
              <a:rPr sz="1050" b="0">
                <a:solidFill>
                  <a:srgbClr val="58665F"/>
                </a:solidFill>
                <a:latin typeface="Arial"/>
                <a:ea typeface="Arial"/>
                <a:cs typeface="Arial"/>
              </a:rPr>
              <a:t>Source: observed segment shares; 90% uncertainty ranges from resampling hosts.</a:t>
            </a:r>
          </a:p>
        </p:txBody>
      </p:sp>
      <p:sp>
        <p:nvSpPr>
          <p:cNvPr id="4" name="">
            <a:extLst xmlns:a="http://schemas.openxmlformats.org/drawingml/2006/main">
              <a:ext uri="{FF2B5EF4-FFF2-40B4-BE49-F238E27FC236}">
                <a16:creationId xmlns:a16="http://schemas.microsoft.com/office/drawing/2014/main" id="{D07289CF-9761-411D-A652-F7CC120A8D58}"/>
              </a:ext>
            </a:extLst>
          </p:cNvPr>
          <p:cNvSpPr>
            <a:spLocks xmlns:a="http://schemas.openxmlformats.org/drawingml/2006/main" noGrp="1"/>
          </p:cNvSpPr>
          <p:nvPr/>
        </p:nvSpPr>
        <p:spPr>
          <a:xfrm xmlns:a="http://schemas.openxmlformats.org/drawingml/2006/main">
            <a:off x="11439525" y="6400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65F"/>
                </a:solidFill>
                <a:latin typeface="Arial"/>
                <a:ea typeface="Arial"/>
                <a:cs typeface="Arial"/>
              </a:defRPr>
            </a:pPr>
            <a:r>
              <a:rPr sz="1125" b="0">
                <a:solidFill>
                  <a:srgbClr val="58665F"/>
                </a:solidFill>
                <a:latin typeface="Arial"/>
                <a:ea typeface="Arial"/>
                <a:cs typeface="Arial"/>
              </a:rPr>
              <a:t>4</a:t>
            </a:r>
          </a:p>
        </p:txBody>
      </p:sp>
      <p:sp>
        <p:nvSpPr>
          <p:cNvPr id="5" name="">
            <a:extLst xmlns:a="http://schemas.openxmlformats.org/drawingml/2006/main">
              <a:ext uri="{FF2B5EF4-FFF2-40B4-BE49-F238E27FC236}">
                <a16:creationId xmlns:a16="http://schemas.microsoft.com/office/drawing/2014/main" id="{EB749B8B-EC69-4050-AAB9-C680F0C5A2A8}"/>
              </a:ext>
            </a:extLst>
          </p:cNvPr>
          <p:cNvSpPr>
            <a:spLocks xmlns:a="http://schemas.openxmlformats.org/drawingml/2006/main" noGrp="1"/>
          </p:cNvSpPr>
          <p:nvPr/>
        </p:nvSpPr>
        <p:spPr>
          <a:xfrm xmlns:a="http://schemas.openxmlformats.org/drawingml/2006/main">
            <a:off x="609600" y="1695450"/>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65F"/>
                </a:solidFill>
                <a:latin typeface="Arial"/>
                <a:ea typeface="Arial"/>
                <a:cs typeface="Arial"/>
              </a:defRPr>
            </a:pPr>
            <a:r>
              <a:rPr sz="2100" b="0">
                <a:solidFill>
                  <a:srgbClr val="58665F"/>
                </a:solidFill>
                <a:latin typeface="Arial"/>
                <a:ea typeface="Arial"/>
                <a:cs typeface="Arial"/>
              </a:rPr>
              <a:t>Share reaching 30+ reviews: leading groups among 14 eligible groups</a:t>
            </a:r>
          </a:p>
        </p:txBody>
      </p:sp>
      <p:graphicFrame>
        <p:nvGraphicFramePr>
          <p:cNvPr id="18" name="Chart"/>
          <p:cNvGraphicFramePr/>
          <p:nvPr/>
        </p:nvGraphicFramePr>
        <p:xfrm>
          <a:off xmlns:a="http://schemas.openxmlformats.org/drawingml/2006/main" x="4295775" y="2028825"/>
          <a:ext xmlns:a="http://schemas.openxmlformats.org/drawingml/2006/main" cx="7286625" cy="3400425"/>
        </p:xfrm>
        <a:graphic xmlns:a="http://schemas.openxmlformats.org/drawingml/2006/main">
          <a:graphicData uri="http://schemas.openxmlformats.org/drawingml/2006/chart">
            <c:chart xmlns:r="http://schemas.openxmlformats.org/officeDocument/2006/relationships" xmlns:c="http://schemas.openxmlformats.org/drawingml/2006/chart" r:id="Rf937ada3b4b54c4f"/>
          </a:graphicData>
        </a:graphic>
      </p:graphicFrame>
      <p:sp>
        <p:nvSpPr>
          <p:cNvPr id="7" name="">
            <a:extLst xmlns:a="http://schemas.openxmlformats.org/drawingml/2006/main">
              <a:ext uri="{FF2B5EF4-FFF2-40B4-BE49-F238E27FC236}">
                <a16:creationId xmlns:a16="http://schemas.microsoft.com/office/drawing/2014/main" id="{515C82E1-7AD9-44B1-A706-5E5B0E1A3051}"/>
              </a:ext>
            </a:extLst>
          </p:cNvPr>
          <p:cNvSpPr>
            <a:spLocks xmlns:a="http://schemas.openxmlformats.org/drawingml/2006/main" noGrp="1"/>
          </p:cNvSpPr>
          <p:nvPr/>
        </p:nvSpPr>
        <p:spPr>
          <a:xfrm xmlns:a="http://schemas.openxmlformats.org/drawingml/2006/main">
            <a:off x="609600" y="2590800"/>
            <a:ext cx="3667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163B36"/>
                </a:solidFill>
                <a:latin typeface="Arial"/>
                <a:ea typeface="Arial"/>
                <a:cs typeface="Arial"/>
              </a:defRPr>
            </a:pPr>
            <a:r>
              <a:rPr sz="1650" b="1">
                <a:solidFill>
                  <a:srgbClr val="163B36"/>
                </a:solidFill>
                <a:latin typeface="Arial"/>
                <a:ea typeface="Arial"/>
                <a:cs typeface="Arial"/>
              </a:rPr>
              <a:t>City of Melbourne</a:t>
            </a:r>
          </a:p>
          <a:p xmlns:a="http://schemas.openxmlformats.org/drawingml/2006/main">
            <a:pPr>
              <a:defRPr sz="1650" b="1">
                <a:solidFill>
                  <a:srgbClr val="163B36"/>
                </a:solidFill>
                <a:latin typeface="Arial"/>
                <a:ea typeface="Arial"/>
                <a:cs typeface="Arial"/>
              </a:defRPr>
            </a:pPr>
            <a:r>
              <a:rPr sz="1650" b="1">
                <a:solidFill>
                  <a:srgbClr val="163B36"/>
                </a:solidFill>
                <a:latin typeface="Arial"/>
                <a:ea typeface="Arial"/>
                <a:cs typeface="Arial"/>
              </a:rPr>
              <a:t>3BR apartments (n=306)</a:t>
            </a:r>
          </a:p>
        </p:txBody>
      </p:sp>
      <p:sp>
        <p:nvSpPr>
          <p:cNvPr id="8" name="">
            <a:extLst xmlns:a="http://schemas.openxmlformats.org/drawingml/2006/main">
              <a:ext uri="{FF2B5EF4-FFF2-40B4-BE49-F238E27FC236}">
                <a16:creationId xmlns:a16="http://schemas.microsoft.com/office/drawing/2014/main" id="{D6491F1A-E48A-4DEF-8421-CA31981D32A2}"/>
              </a:ext>
            </a:extLst>
          </p:cNvPr>
          <p:cNvSpPr>
            <a:spLocks xmlns:a="http://schemas.openxmlformats.org/drawingml/2006/main" noGrp="1"/>
          </p:cNvSpPr>
          <p:nvPr/>
        </p:nvSpPr>
        <p:spPr>
          <a:xfrm xmlns:a="http://schemas.openxmlformats.org/drawingml/2006/main">
            <a:off x="609600" y="3343275"/>
            <a:ext cx="3667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163B36"/>
                </a:solidFill>
                <a:latin typeface="Arial"/>
                <a:ea typeface="Arial"/>
                <a:cs typeface="Arial"/>
              </a:defRPr>
            </a:pPr>
            <a:r>
              <a:rPr sz="1650" b="1">
                <a:solidFill>
                  <a:srgbClr val="163B36"/>
                </a:solidFill>
                <a:latin typeface="Arial"/>
                <a:ea typeface="Arial"/>
                <a:cs typeface="Arial"/>
              </a:rPr>
              <a:t>City of Melbourne</a:t>
            </a:r>
          </a:p>
          <a:p xmlns:a="http://schemas.openxmlformats.org/drawingml/2006/main">
            <a:pPr>
              <a:defRPr sz="1650" b="1">
                <a:solidFill>
                  <a:srgbClr val="163B36"/>
                </a:solidFill>
                <a:latin typeface="Arial"/>
                <a:ea typeface="Arial"/>
                <a:cs typeface="Arial"/>
              </a:defRPr>
            </a:pPr>
            <a:r>
              <a:rPr sz="1650" b="1">
                <a:solidFill>
                  <a:srgbClr val="163B36"/>
                </a:solidFill>
                <a:latin typeface="Arial"/>
                <a:ea typeface="Arial"/>
                <a:cs typeface="Arial"/>
              </a:rPr>
              <a:t>2BR apartments (n=1,235)</a:t>
            </a:r>
          </a:p>
        </p:txBody>
      </p:sp>
      <p:sp>
        <p:nvSpPr>
          <p:cNvPr id="9" name="">
            <a:extLst xmlns:a="http://schemas.openxmlformats.org/drawingml/2006/main">
              <a:ext uri="{FF2B5EF4-FFF2-40B4-BE49-F238E27FC236}">
                <a16:creationId xmlns:a16="http://schemas.microsoft.com/office/drawing/2014/main" id="{763C6775-8263-4EBE-83D5-8E9FC64A5046}"/>
              </a:ext>
            </a:extLst>
          </p:cNvPr>
          <p:cNvSpPr>
            <a:spLocks xmlns:a="http://schemas.openxmlformats.org/drawingml/2006/main" noGrp="1"/>
          </p:cNvSpPr>
          <p:nvPr/>
        </p:nvSpPr>
        <p:spPr>
          <a:xfrm xmlns:a="http://schemas.openxmlformats.org/drawingml/2006/main">
            <a:off x="609600" y="4095750"/>
            <a:ext cx="3667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163B36"/>
                </a:solidFill>
                <a:latin typeface="Arial"/>
                <a:ea typeface="Arial"/>
                <a:cs typeface="Arial"/>
              </a:defRPr>
            </a:pPr>
            <a:r>
              <a:rPr sz="1650" b="1">
                <a:solidFill>
                  <a:srgbClr val="163B36"/>
                </a:solidFill>
                <a:latin typeface="Arial"/>
                <a:ea typeface="Arial"/>
                <a:cs typeface="Arial"/>
              </a:rPr>
              <a:t>Yarra Ranges</a:t>
            </a:r>
          </a:p>
          <a:p xmlns:a="http://schemas.openxmlformats.org/drawingml/2006/main">
            <a:pPr>
              <a:defRPr sz="1650" b="1">
                <a:solidFill>
                  <a:srgbClr val="163B36"/>
                </a:solidFill>
                <a:latin typeface="Arial"/>
                <a:ea typeface="Arial"/>
                <a:cs typeface="Arial"/>
              </a:defRPr>
            </a:pPr>
            <a:r>
              <a:rPr sz="1650" b="1">
                <a:solidFill>
                  <a:srgbClr val="163B36"/>
                </a:solidFill>
                <a:latin typeface="Arial"/>
                <a:ea typeface="Arial"/>
                <a:cs typeface="Arial"/>
              </a:rPr>
              <a:t>3BR houses/townhouses (n=90)</a:t>
            </a:r>
          </a:p>
        </p:txBody>
      </p:sp>
      <p:sp>
        <p:nvSpPr>
          <p:cNvPr id="10" name="">
            <a:extLst xmlns:a="http://schemas.openxmlformats.org/drawingml/2006/main">
              <a:ext uri="{FF2B5EF4-FFF2-40B4-BE49-F238E27FC236}">
                <a16:creationId xmlns:a16="http://schemas.microsoft.com/office/drawing/2014/main" id="{2BC42925-DA89-49E8-BA41-9DACE8F53990}"/>
              </a:ext>
            </a:extLst>
          </p:cNvPr>
          <p:cNvSpPr>
            <a:spLocks xmlns:a="http://schemas.openxmlformats.org/drawingml/2006/main" noGrp="1"/>
          </p:cNvSpPr>
          <p:nvPr/>
        </p:nvSpPr>
        <p:spPr>
          <a:xfrm xmlns:a="http://schemas.openxmlformats.org/drawingml/2006/main">
            <a:off x="4295775" y="5429250"/>
            <a:ext cx="7277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58665F"/>
                </a:solidFill>
                <a:latin typeface="Arial"/>
                <a:ea typeface="Arial"/>
                <a:cs typeface="Arial"/>
              </a:defRPr>
            </a:pPr>
            <a:r>
              <a:rPr sz="1575" b="0">
                <a:solidFill>
                  <a:srgbClr val="58665F"/>
                </a:solidFill>
                <a:latin typeface="Arial"/>
                <a:ea typeface="Arial"/>
                <a:cs typeface="Arial"/>
              </a:rPr>
              <a:t>Dots show observed shares. Lines show 90% ranges.</a:t>
            </a:r>
          </a:p>
        </p:txBody>
      </p:sp>
      <p:sp>
        <p:nvSpPr>
          <p:cNvPr id="11" name="">
            <a:extLst xmlns:a="http://schemas.openxmlformats.org/drawingml/2006/main">
              <a:ext uri="{FF2B5EF4-FFF2-40B4-BE49-F238E27FC236}">
                <a16:creationId xmlns:a16="http://schemas.microsoft.com/office/drawing/2014/main" id="{95E583EB-453D-4A4C-B123-973BB0E52943}"/>
              </a:ext>
            </a:extLst>
          </p:cNvPr>
          <p:cNvSpPr>
            <a:spLocks xmlns:a="http://schemas.openxmlformats.org/drawingml/2006/main" noGrp="1"/>
          </p:cNvSpPr>
          <p:nvPr/>
        </p:nvSpPr>
        <p:spPr>
          <a:xfrm xmlns:a="http://schemas.openxmlformats.org/drawingml/2006/main">
            <a:off x="4295775" y="5753100"/>
            <a:ext cx="7277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58665F"/>
                </a:solidFill>
                <a:latin typeface="Arial"/>
                <a:ea typeface="Arial"/>
                <a:cs typeface="Arial"/>
              </a:defRPr>
            </a:pPr>
            <a:r>
              <a:rPr sz="1575" b="0">
                <a:solidFill>
                  <a:srgbClr val="58665F"/>
                </a:solidFill>
                <a:latin typeface="Arial"/>
                <a:ea typeface="Arial"/>
                <a:cs typeface="Arial"/>
              </a:rPr>
              <a:t>Grey line: all 14 eligible groups combined, 25.3%.</a:t>
            </a:r>
          </a:p>
        </p:txBody>
      </p:sp>
      <p:sp>
        <p:nvSpPr>
          <p:cNvPr id="12" name="">
            <a:extLst xmlns:a="http://schemas.openxmlformats.org/drawingml/2006/main">
              <a:ext uri="{FF2B5EF4-FFF2-40B4-BE49-F238E27FC236}">
                <a16:creationId xmlns:a16="http://schemas.microsoft.com/office/drawing/2014/main" id="{6476293B-9C83-4935-B585-00936B0F4E88}"/>
              </a:ext>
            </a:extLst>
          </p:cNvPr>
          <p:cNvSpPr>
            <a:spLocks xmlns:a="http://schemas.openxmlformats.org/drawingml/2006/main" noGrp="1"/>
          </p:cNvSpPr>
          <p:nvPr/>
        </p:nvSpPr>
        <p:spPr>
          <a:xfrm xmlns:a="http://schemas.openxmlformats.org/drawingml/2006/main">
            <a:off x="609600" y="5457825"/>
            <a:ext cx="3476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237E72"/>
                </a:solidFill>
                <a:latin typeface="Arial"/>
                <a:ea typeface="Arial"/>
                <a:cs typeface="Arial"/>
              </a:defRPr>
            </a:pPr>
            <a:r>
              <a:rPr sz="1875" b="1">
                <a:solidFill>
                  <a:srgbClr val="237E72"/>
                </a:solidFill>
                <a:latin typeface="Arial"/>
                <a:ea typeface="Arial"/>
                <a:cs typeface="Arial"/>
              </a:rPr>
              <a:t>Three promising options.</a:t>
            </a:r>
          </a:p>
          <a:p xmlns:a="http://schemas.openxmlformats.org/drawingml/2006/main">
            <a:pPr>
              <a:defRPr sz="1875" b="1">
                <a:solidFill>
                  <a:srgbClr val="237E72"/>
                </a:solidFill>
                <a:latin typeface="Arial"/>
                <a:ea typeface="Arial"/>
                <a:cs typeface="Arial"/>
              </a:defRPr>
            </a:pPr>
            <a:r>
              <a:rPr sz="1875" b="1">
                <a:solidFill>
                  <a:srgbClr val="237E72"/>
                </a:solidFill>
                <a:latin typeface="Arial"/>
                <a:ea typeface="Arial"/>
                <a:cs typeface="Arial"/>
              </a:rPr>
              <a:t>Check quotes and permissions.</a:t>
            </a:r>
          </a:p>
        </p:txBody>
      </p:sp>
    </p:spTree>
    <p:extLst>
      <p:ext uri="{BB962C8B-B14F-4D97-AF65-F5344CB8AC3E}">
        <p14:creationId xmlns:p14="http://schemas.microsoft.com/office/powerpoint/2010/main" val="649051290"/>
      </p:ext>
    </p:extLst>
  </p:cSld>
  <p:transition spd="med" advClick="1">
    <p:fade/>
  </p:transition>
</p:sld>
</file>

<file path=ppt/slides/slide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24F7B7E-AAFC-4421-BDF2-F5F7C3EBAC64}"/>
              </a:ext>
            </a:extLst>
          </p:cNvPr>
          <p:cNvSpPr>
            <a:spLocks xmlns:a="http://schemas.openxmlformats.org/drawingml/2006/main" noGrp="1"/>
          </p:cNvSpPr>
          <p:nvPr/>
        </p:nvSpPr>
        <p:spPr>
          <a:xfrm xmlns:a="http://schemas.openxmlformats.org/drawingml/2006/main">
            <a:off x="609600" y="3048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BD5A32"/>
                </a:solidFill>
                <a:latin typeface="Arial"/>
                <a:ea typeface="Arial"/>
                <a:cs typeface="Arial"/>
              </a:defRPr>
            </a:pPr>
            <a:r>
              <a:rPr sz="1200" b="1">
                <a:solidFill>
                  <a:srgbClr val="BD5A32"/>
                </a:solidFill>
                <a:latin typeface="Arial"/>
                <a:ea typeface="Arial"/>
                <a:cs typeface="Arial"/>
              </a:rPr>
              <a:t>OUR METHOD</a:t>
            </a:r>
          </a:p>
        </p:txBody>
      </p:sp>
      <p:sp>
        <p:nvSpPr>
          <p:cNvPr id="2" name="">
            <a:extLst xmlns:a="http://schemas.openxmlformats.org/drawingml/2006/main">
              <a:ext uri="{FF2B5EF4-FFF2-40B4-BE49-F238E27FC236}">
                <a16:creationId xmlns:a16="http://schemas.microsoft.com/office/drawing/2014/main" id="{35A2DAA2-9B99-4DC2-A239-3D61493D5A03}"/>
              </a:ext>
            </a:extLst>
          </p:cNvPr>
          <p:cNvSpPr>
            <a:spLocks xmlns:a="http://schemas.openxmlformats.org/drawingml/2006/main" noGrp="1"/>
          </p:cNvSpPr>
          <p:nvPr/>
        </p:nvSpPr>
        <p:spPr>
          <a:xfrm xmlns:a="http://schemas.openxmlformats.org/drawingml/2006/main">
            <a:off x="609600" y="742950"/>
            <a:ext cx="1095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63B36"/>
                </a:solidFill>
                <a:latin typeface="Georgia"/>
                <a:ea typeface="Georgia"/>
                <a:cs typeface="Georgia"/>
              </a:defRPr>
            </a:pPr>
            <a:r>
              <a:rPr sz="3150" b="1">
                <a:solidFill>
                  <a:srgbClr val="163B36"/>
                </a:solidFill>
                <a:latin typeface="Georgia"/>
                <a:ea typeface="Georgia"/>
                <a:cs typeface="Georgia"/>
              </a:rPr>
              <a:t>What the historical ranking score uses</a:t>
            </a:r>
          </a:p>
        </p:txBody>
      </p:sp>
      <p:sp>
        <p:nvSpPr>
          <p:cNvPr id="3" name="">
            <a:extLst xmlns:a="http://schemas.openxmlformats.org/drawingml/2006/main">
              <a:ext uri="{FF2B5EF4-FFF2-40B4-BE49-F238E27FC236}">
                <a16:creationId xmlns:a16="http://schemas.microsoft.com/office/drawing/2014/main" id="{9786F84D-CE40-403C-AA04-5192A7C7750D}"/>
              </a:ext>
            </a:extLst>
          </p:cNvPr>
          <p:cNvSpPr>
            <a:spLocks xmlns:a="http://schemas.openxmlformats.org/drawingml/2006/main" noGrp="1"/>
          </p:cNvSpPr>
          <p:nvPr/>
        </p:nvSpPr>
        <p:spPr>
          <a:xfrm xmlns:a="http://schemas.openxmlformats.org/drawingml/2006/main">
            <a:off x="609600" y="64008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58665F"/>
                </a:solidFill>
                <a:latin typeface="Arial"/>
                <a:ea typeface="Arial"/>
                <a:cs typeface="Arial"/>
              </a:defRPr>
            </a:pPr>
            <a:r>
              <a:rPr sz="1050" b="0">
                <a:solidFill>
                  <a:srgbClr val="58665F"/>
                </a:solidFill>
                <a:latin typeface="Arial"/>
                <a:ea typeface="Arial"/>
                <a:cs typeface="Arial"/>
              </a:rPr>
              <a:t>Conditional associations, with other inputs held constant. Current settings may differ from the review year.</a:t>
            </a:r>
          </a:p>
        </p:txBody>
      </p:sp>
      <p:sp>
        <p:nvSpPr>
          <p:cNvPr id="4" name="">
            <a:extLst xmlns:a="http://schemas.openxmlformats.org/drawingml/2006/main">
              <a:ext uri="{FF2B5EF4-FFF2-40B4-BE49-F238E27FC236}">
                <a16:creationId xmlns:a16="http://schemas.microsoft.com/office/drawing/2014/main" id="{A091F129-BE79-409B-A579-03C86DD5F879}"/>
              </a:ext>
            </a:extLst>
          </p:cNvPr>
          <p:cNvSpPr>
            <a:spLocks xmlns:a="http://schemas.openxmlformats.org/drawingml/2006/main" noGrp="1"/>
          </p:cNvSpPr>
          <p:nvPr/>
        </p:nvSpPr>
        <p:spPr>
          <a:xfrm xmlns:a="http://schemas.openxmlformats.org/drawingml/2006/main">
            <a:off x="11439525" y="6400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65F"/>
                </a:solidFill>
                <a:latin typeface="Arial"/>
                <a:ea typeface="Arial"/>
                <a:cs typeface="Arial"/>
              </a:defRPr>
            </a:pPr>
            <a:r>
              <a:rPr sz="1125" b="0">
                <a:solidFill>
                  <a:srgbClr val="58665F"/>
                </a:solidFill>
                <a:latin typeface="Arial"/>
                <a:ea typeface="Arial"/>
                <a:cs typeface="Arial"/>
              </a:rPr>
              <a:t>5</a:t>
            </a:r>
          </a:p>
        </p:txBody>
      </p:sp>
      <p:sp>
        <p:nvSpPr>
          <p:cNvPr id="5" name="">
            <a:extLst xmlns:a="http://schemas.openxmlformats.org/drawingml/2006/main">
              <a:ext uri="{FF2B5EF4-FFF2-40B4-BE49-F238E27FC236}">
                <a16:creationId xmlns:a16="http://schemas.microsoft.com/office/drawing/2014/main" id="{C52BDE03-6977-464D-A794-59F9E69FD461}"/>
              </a:ext>
            </a:extLst>
          </p:cNvPr>
          <p:cNvSpPr>
            <a:spLocks xmlns:a="http://schemas.openxmlformats.org/drawingml/2006/main" noGrp="1"/>
          </p:cNvSpPr>
          <p:nvPr/>
        </p:nvSpPr>
        <p:spPr>
          <a:xfrm xmlns:a="http://schemas.openxmlformats.org/drawingml/2006/main">
            <a:off x="609600" y="16383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63B36"/>
                </a:solidFill>
                <a:latin typeface="Arial"/>
                <a:ea typeface="Arial"/>
                <a:cs typeface="Arial"/>
              </a:defRPr>
            </a:pPr>
            <a:r>
              <a:rPr sz="2100" b="1">
                <a:solidFill>
                  <a:srgbClr val="163B36"/>
                </a:solidFill>
                <a:latin typeface="Arial"/>
                <a:ea typeface="Arial"/>
                <a:cs typeface="Arial"/>
              </a:rPr>
              <a:t>Outcome (Y): 30+ reviews in the previous 365 days, yes or no.</a:t>
            </a:r>
          </a:p>
        </p:txBody>
      </p:sp>
      <p:sp>
        <p:nvSpPr>
          <p:cNvPr id="6" name="">
            <a:extLst xmlns:a="http://schemas.openxmlformats.org/drawingml/2006/main">
              <a:ext uri="{FF2B5EF4-FFF2-40B4-BE49-F238E27FC236}">
                <a16:creationId xmlns:a16="http://schemas.microsoft.com/office/drawing/2014/main" id="{73E061C0-4BCA-4E62-B9F8-72348F43BF87}"/>
              </a:ext>
            </a:extLst>
          </p:cNvPr>
          <p:cNvSpPr>
            <a:spLocks xmlns:a="http://schemas.openxmlformats.org/drawingml/2006/main" noGrp="1"/>
          </p:cNvSpPr>
          <p:nvPr/>
        </p:nvSpPr>
        <p:spPr>
          <a:xfrm xmlns:a="http://schemas.openxmlformats.org/drawingml/2006/main">
            <a:off x="609600" y="2400300"/>
            <a:ext cx="3162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1">
                <a:solidFill>
                  <a:srgbClr val="237E72"/>
                </a:solidFill>
                <a:latin typeface="Arial"/>
                <a:ea typeface="Arial"/>
                <a:cs typeface="Arial"/>
              </a:defRPr>
            </a:pPr>
            <a:r>
              <a:rPr sz="1425" b="1">
                <a:solidFill>
                  <a:srgbClr val="237E72"/>
                </a:solidFill>
                <a:latin typeface="Arial"/>
                <a:ea typeface="Arial"/>
                <a:cs typeface="Arial"/>
              </a:rPr>
              <a:t>SIX INPUTS (X)</a:t>
            </a:r>
          </a:p>
        </p:txBody>
      </p:sp>
      <p:sp>
        <p:nvSpPr>
          <p:cNvPr id="7" name="">
            <a:extLst xmlns:a="http://schemas.openxmlformats.org/drawingml/2006/main">
              <a:ext uri="{FF2B5EF4-FFF2-40B4-BE49-F238E27FC236}">
                <a16:creationId xmlns:a16="http://schemas.microsoft.com/office/drawing/2014/main" id="{B9F17074-AF8D-4FEB-90F5-88D99DF66F63}"/>
              </a:ext>
            </a:extLst>
          </p:cNvPr>
          <p:cNvSpPr>
            <a:spLocks xmlns:a="http://schemas.openxmlformats.org/drawingml/2006/main" noGrp="1"/>
          </p:cNvSpPr>
          <p:nvPr/>
        </p:nvSpPr>
        <p:spPr>
          <a:xfrm xmlns:a="http://schemas.openxmlformats.org/drawingml/2006/main">
            <a:off x="609600" y="2924175"/>
            <a:ext cx="3190875" cy="2276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63B36"/>
                </a:solidFill>
                <a:latin typeface="Arial"/>
                <a:ea typeface="Arial"/>
                <a:cs typeface="Arial"/>
              </a:defRPr>
            </a:pPr>
            <a:r>
              <a:rPr sz="1875" b="0">
                <a:solidFill>
                  <a:srgbClr val="163B36"/>
                </a:solidFill>
                <a:latin typeface="Arial"/>
                <a:ea typeface="Arial"/>
                <a:cs typeface="Arial"/>
              </a:rPr>
              <a:t>Council area</a:t>
            </a:r>
          </a:p>
          <a:p xmlns:a="http://schemas.openxmlformats.org/drawingml/2006/main">
            <a:pPr>
              <a:defRPr sz="1875" b="0">
                <a:solidFill>
                  <a:srgbClr val="163B36"/>
                </a:solidFill>
                <a:latin typeface="Arial"/>
                <a:ea typeface="Arial"/>
                <a:cs typeface="Arial"/>
              </a:defRPr>
            </a:pPr>
            <a:r>
              <a:rPr sz="1875" b="0">
                <a:solidFill>
                  <a:srgbClr val="163B36"/>
                </a:solidFill>
                <a:latin typeface="Arial"/>
                <a:ea typeface="Arial"/>
                <a:cs typeface="Arial"/>
              </a:rPr>
              <a:t>Dwelling type</a:t>
            </a:r>
          </a:p>
          <a:p xmlns:a="http://schemas.openxmlformats.org/drawingml/2006/main">
            <a:pPr>
              <a:defRPr sz="1875" b="0">
                <a:solidFill>
                  <a:srgbClr val="163B36"/>
                </a:solidFill>
                <a:latin typeface="Arial"/>
                <a:ea typeface="Arial"/>
                <a:cs typeface="Arial"/>
              </a:defRPr>
            </a:pPr>
            <a:r>
              <a:rPr sz="1875" b="0">
                <a:solidFill>
                  <a:srgbClr val="163B36"/>
                </a:solidFill>
                <a:latin typeface="Arial"/>
                <a:ea typeface="Arial"/>
                <a:cs typeface="Arial"/>
              </a:rPr>
              <a:t>Bedrooms</a:t>
            </a:r>
          </a:p>
          <a:p xmlns:a="http://schemas.openxmlformats.org/drawingml/2006/main">
            <a:pPr>
              <a:defRPr sz="1875" b="0">
                <a:solidFill>
                  <a:srgbClr val="163B36"/>
                </a:solidFill>
                <a:latin typeface="Arial"/>
                <a:ea typeface="Arial"/>
                <a:cs typeface="Arial"/>
              </a:defRPr>
            </a:pPr>
            <a:r>
              <a:rPr sz="1875" b="0">
                <a:solidFill>
                  <a:srgbClr val="163B36"/>
                </a:solidFill>
                <a:latin typeface="Arial"/>
                <a:ea typeface="Arial"/>
                <a:cs typeface="Arial"/>
              </a:rPr>
              <a:t>Price relative to peers</a:t>
            </a:r>
          </a:p>
          <a:p xmlns:a="http://schemas.openxmlformats.org/drawingml/2006/main">
            <a:pPr>
              <a:defRPr sz="1875" b="0">
                <a:solidFill>
                  <a:srgbClr val="163B36"/>
                </a:solidFill>
                <a:latin typeface="Arial"/>
                <a:ea typeface="Arial"/>
                <a:cs typeface="Arial"/>
              </a:defRPr>
            </a:pPr>
            <a:r>
              <a:rPr sz="1875" b="0">
                <a:solidFill>
                  <a:srgbClr val="163B36"/>
                </a:solidFill>
                <a:latin typeface="Arial"/>
                <a:ea typeface="Arial"/>
                <a:cs typeface="Arial"/>
              </a:rPr>
              <a:t>Accepts one-night stays</a:t>
            </a:r>
          </a:p>
          <a:p xmlns:a="http://schemas.openxmlformats.org/drawingml/2006/main">
            <a:pPr>
              <a:defRPr sz="1875" b="0">
                <a:solidFill>
                  <a:srgbClr val="163B36"/>
                </a:solidFill>
                <a:latin typeface="Arial"/>
                <a:ea typeface="Arial"/>
                <a:cs typeface="Arial"/>
              </a:defRPr>
            </a:pPr>
            <a:r>
              <a:rPr sz="1875" b="0">
                <a:solidFill>
                  <a:srgbClr val="163B36"/>
                </a:solidFill>
                <a:latin typeface="Arial"/>
                <a:ea typeface="Arial"/>
                <a:cs typeface="Arial"/>
              </a:rPr>
              <a:t>Amenity count</a:t>
            </a:r>
          </a:p>
        </p:txBody>
      </p:sp>
      <p:sp>
        <p:nvSpPr>
          <p:cNvPr id="8" name="">
            <a:extLst xmlns:a="http://schemas.openxmlformats.org/drawingml/2006/main">
              <a:ext uri="{FF2B5EF4-FFF2-40B4-BE49-F238E27FC236}">
                <a16:creationId xmlns:a16="http://schemas.microsoft.com/office/drawing/2014/main" id="{BB9E4103-EB3C-46CD-AAA5-31F8962B6F9A}"/>
              </a:ext>
            </a:extLst>
          </p:cNvPr>
          <p:cNvSpPr>
            <a:spLocks xmlns:a="http://schemas.openxmlformats.org/drawingml/2006/main" noGrp="1"/>
          </p:cNvSpPr>
          <p:nvPr/>
        </p:nvSpPr>
        <p:spPr>
          <a:xfrm xmlns:a="http://schemas.openxmlformats.org/drawingml/2006/main">
            <a:off x="4314825" y="240030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1">
                <a:solidFill>
                  <a:srgbClr val="237E72"/>
                </a:solidFill>
                <a:latin typeface="Arial"/>
                <a:ea typeface="Arial"/>
                <a:cs typeface="Arial"/>
              </a:defRPr>
            </a:pPr>
            <a:r>
              <a:rPr sz="1425" b="1">
                <a:solidFill>
                  <a:srgbClr val="237E72"/>
                </a:solidFill>
                <a:latin typeface="Arial"/>
                <a:ea typeface="Arial"/>
                <a:cs typeface="Arial"/>
              </a:rPr>
              <a:t>LOGISTIC REGRESSION</a:t>
            </a:r>
          </a:p>
        </p:txBody>
      </p:sp>
      <p:sp>
        <p:nvSpPr>
          <p:cNvPr id="9" name="">
            <a:extLst xmlns:a="http://schemas.openxmlformats.org/drawingml/2006/main">
              <a:ext uri="{FF2B5EF4-FFF2-40B4-BE49-F238E27FC236}">
                <a16:creationId xmlns:a16="http://schemas.microsoft.com/office/drawing/2014/main" id="{F21561A3-8341-4967-8102-3D136B641412}"/>
              </a:ext>
            </a:extLst>
          </p:cNvPr>
          <p:cNvSpPr>
            <a:spLocks xmlns:a="http://schemas.openxmlformats.org/drawingml/2006/main" noGrp="1"/>
          </p:cNvSpPr>
          <p:nvPr/>
        </p:nvSpPr>
        <p:spPr>
          <a:xfrm xmlns:a="http://schemas.openxmlformats.org/drawingml/2006/main">
            <a:off x="4314825" y="2924175"/>
            <a:ext cx="317182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63B36"/>
                </a:solidFill>
                <a:latin typeface="Arial"/>
                <a:ea typeface="Arial"/>
                <a:cs typeface="Arial"/>
              </a:defRPr>
            </a:pPr>
            <a:r>
              <a:rPr sz="2025" b="0">
                <a:solidFill>
                  <a:srgbClr val="163B36"/>
                </a:solidFill>
                <a:latin typeface="Arial"/>
                <a:ea typeface="Arial"/>
                <a:cs typeface="Arial"/>
              </a:rPr>
              <a:t>Combines six features.</a:t>
            </a:r>
          </a:p>
          <a:p xmlns:a="http://schemas.openxmlformats.org/drawingml/2006/main">
            <a:r>
              <a:t/>
            </a:r>
          </a:p>
          <a:p xmlns:a="http://schemas.openxmlformats.org/drawingml/2006/main">
            <a:pPr>
              <a:defRPr sz="2025" b="0">
                <a:solidFill>
                  <a:srgbClr val="163B36"/>
                </a:solidFill>
                <a:latin typeface="Arial"/>
                <a:ea typeface="Arial"/>
                <a:cs typeface="Arial"/>
              </a:defRPr>
            </a:pPr>
            <a:r>
              <a:rPr sz="2025" b="0">
                <a:solidFill>
                  <a:srgbClr val="163B36"/>
                </a:solidFill>
                <a:latin typeface="Arial"/>
                <a:ea typeface="Arial"/>
                <a:cs typeface="Arial"/>
              </a:rPr>
              <a:t>Output: a historical ranking score.</a:t>
            </a:r>
          </a:p>
        </p:txBody>
      </p:sp>
      <p:sp>
        <p:nvSpPr>
          <p:cNvPr id="10" name="">
            <a:extLst xmlns:a="http://schemas.openxmlformats.org/drawingml/2006/main">
              <a:ext uri="{FF2B5EF4-FFF2-40B4-BE49-F238E27FC236}">
                <a16:creationId xmlns:a16="http://schemas.microsoft.com/office/drawing/2014/main" id="{A2722706-B541-4120-9246-7E635A2CC80A}"/>
              </a:ext>
            </a:extLst>
          </p:cNvPr>
          <p:cNvSpPr>
            <a:spLocks xmlns:a="http://schemas.openxmlformats.org/drawingml/2006/main" noGrp="1"/>
          </p:cNvSpPr>
          <p:nvPr/>
        </p:nvSpPr>
        <p:spPr>
          <a:xfrm xmlns:a="http://schemas.openxmlformats.org/drawingml/2006/main">
            <a:off x="4314825" y="48101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8665F"/>
                </a:solidFill>
                <a:latin typeface="Arial"/>
                <a:ea typeface="Arial"/>
                <a:cs typeface="Arial"/>
              </a:defRPr>
            </a:pPr>
            <a:r>
              <a:rPr sz="1875" b="0">
                <a:solidFill>
                  <a:srgbClr val="58665F"/>
                </a:solidFill>
                <a:latin typeface="Arial"/>
                <a:ea typeface="Arial"/>
                <a:cs typeface="Arial"/>
              </a:rPr>
              <a:t>Use the score to decide</a:t>
            </a:r>
          </a:p>
          <a:p xmlns:a="http://schemas.openxmlformats.org/drawingml/2006/main">
            <a:pPr>
              <a:defRPr sz="1875" b="0">
                <a:solidFill>
                  <a:srgbClr val="58665F"/>
                </a:solidFill>
                <a:latin typeface="Arial"/>
                <a:ea typeface="Arial"/>
                <a:cs typeface="Arial"/>
              </a:defRPr>
            </a:pPr>
            <a:r>
              <a:rPr sz="1875" b="0">
                <a:solidFill>
                  <a:srgbClr val="58665F"/>
                </a:solidFill>
                <a:latin typeface="Arial"/>
                <a:ea typeface="Arial"/>
                <a:cs typeface="Arial"/>
              </a:rPr>
              <a:t>which homes to investigate.</a:t>
            </a:r>
          </a:p>
        </p:txBody>
      </p:sp>
      <p:sp>
        <p:nvSpPr>
          <p:cNvPr id="11" name="">
            <a:extLst xmlns:a="http://schemas.openxmlformats.org/drawingml/2006/main">
              <a:ext uri="{FF2B5EF4-FFF2-40B4-BE49-F238E27FC236}">
                <a16:creationId xmlns:a16="http://schemas.microsoft.com/office/drawing/2014/main" id="{0721A7E0-A6CD-41E3-AED3-CD977EA2396F}"/>
              </a:ext>
            </a:extLst>
          </p:cNvPr>
          <p:cNvSpPr>
            <a:spLocks xmlns:a="http://schemas.openxmlformats.org/drawingml/2006/main" noGrp="1"/>
          </p:cNvSpPr>
          <p:nvPr/>
        </p:nvSpPr>
        <p:spPr>
          <a:xfrm xmlns:a="http://schemas.openxmlformats.org/drawingml/2006/main">
            <a:off x="8039100" y="2400300"/>
            <a:ext cx="3524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1">
                <a:solidFill>
                  <a:srgbClr val="237E72"/>
                </a:solidFill>
                <a:latin typeface="Arial"/>
                <a:ea typeface="Arial"/>
                <a:cs typeface="Arial"/>
              </a:defRPr>
            </a:pPr>
            <a:r>
              <a:rPr sz="1350" b="1">
                <a:solidFill>
                  <a:srgbClr val="237E72"/>
                </a:solidFill>
                <a:latin typeface="Arial"/>
                <a:ea typeface="Arial"/>
                <a:cs typeface="Arial"/>
              </a:rPr>
              <a:t>TWO CONSISTENT ASSOCIATIONS</a:t>
            </a:r>
          </a:p>
        </p:txBody>
      </p:sp>
      <p:sp>
        <p:nvSpPr>
          <p:cNvPr id="12" name="">
            <a:extLst xmlns:a="http://schemas.openxmlformats.org/drawingml/2006/main">
              <a:ext uri="{FF2B5EF4-FFF2-40B4-BE49-F238E27FC236}">
                <a16:creationId xmlns:a16="http://schemas.microsoft.com/office/drawing/2014/main" id="{304B4B9E-2D13-4FB9-B905-A65EF38CB4C3}"/>
              </a:ext>
            </a:extLst>
          </p:cNvPr>
          <p:cNvSpPr>
            <a:spLocks xmlns:a="http://schemas.openxmlformats.org/drawingml/2006/main" noGrp="1"/>
          </p:cNvSpPr>
          <p:nvPr/>
        </p:nvSpPr>
        <p:spPr>
          <a:xfrm xmlns:a="http://schemas.openxmlformats.org/drawingml/2006/main">
            <a:off x="8039100" y="298132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63B36"/>
                </a:solidFill>
                <a:latin typeface="Arial"/>
                <a:ea typeface="Arial"/>
                <a:cs typeface="Arial"/>
              </a:defRPr>
            </a:pPr>
            <a:r>
              <a:rPr sz="1875" b="1">
                <a:solidFill>
                  <a:srgbClr val="163B36"/>
                </a:solidFill>
                <a:latin typeface="Arial"/>
                <a:ea typeface="Arial"/>
                <a:cs typeface="Arial"/>
              </a:rPr>
              <a:t>Accepts one-night stays</a:t>
            </a:r>
          </a:p>
        </p:txBody>
      </p:sp>
      <p:sp>
        <p:nvSpPr>
          <p:cNvPr id="13" name="">
            <a:extLst xmlns:a="http://schemas.openxmlformats.org/drawingml/2006/main">
              <a:ext uri="{FF2B5EF4-FFF2-40B4-BE49-F238E27FC236}">
                <a16:creationId xmlns:a16="http://schemas.microsoft.com/office/drawing/2014/main" id="{E78F38DF-2603-4B36-9575-EDEBB088423F}"/>
              </a:ext>
            </a:extLst>
          </p:cNvPr>
          <p:cNvSpPr>
            <a:spLocks xmlns:a="http://schemas.openxmlformats.org/drawingml/2006/main" noGrp="1"/>
          </p:cNvSpPr>
          <p:nvPr/>
        </p:nvSpPr>
        <p:spPr>
          <a:xfrm xmlns:a="http://schemas.openxmlformats.org/drawingml/2006/main">
            <a:off x="8039100" y="3438525"/>
            <a:ext cx="3524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37E72"/>
                </a:solidFill>
                <a:latin typeface="Arial"/>
                <a:ea typeface="Arial"/>
                <a:cs typeface="Arial"/>
              </a:defRPr>
            </a:pPr>
            <a:r>
              <a:rPr sz="1875" b="0">
                <a:solidFill>
                  <a:srgbClr val="237E72"/>
                </a:solidFill>
                <a:latin typeface="Arial"/>
                <a:ea typeface="Arial"/>
                <a:cs typeface="Arial"/>
              </a:rPr>
              <a:t>More likely to have</a:t>
            </a:r>
          </a:p>
          <a:p xmlns:a="http://schemas.openxmlformats.org/drawingml/2006/main">
            <a:pPr>
              <a:defRPr sz="1875" b="0">
                <a:solidFill>
                  <a:srgbClr val="237E72"/>
                </a:solidFill>
                <a:latin typeface="Arial"/>
                <a:ea typeface="Arial"/>
                <a:cs typeface="Arial"/>
              </a:defRPr>
            </a:pPr>
            <a:r>
              <a:rPr sz="1875" b="0">
                <a:solidFill>
                  <a:srgbClr val="237E72"/>
                </a:solidFill>
                <a:latin typeface="Arial"/>
                <a:ea typeface="Arial"/>
                <a:cs typeface="Arial"/>
              </a:rPr>
              <a:t>reached 30 reviews</a:t>
            </a:r>
          </a:p>
        </p:txBody>
      </p:sp>
      <p:sp>
        <p:nvSpPr>
          <p:cNvPr id="14" name="">
            <a:extLst xmlns:a="http://schemas.openxmlformats.org/drawingml/2006/main">
              <a:ext uri="{FF2B5EF4-FFF2-40B4-BE49-F238E27FC236}">
                <a16:creationId xmlns:a16="http://schemas.microsoft.com/office/drawing/2014/main" id="{7E69CF83-3A3C-4680-A967-643733CA63C8}"/>
              </a:ext>
            </a:extLst>
          </p:cNvPr>
          <p:cNvSpPr>
            <a:spLocks xmlns:a="http://schemas.openxmlformats.org/drawingml/2006/main" noGrp="1"/>
          </p:cNvSpPr>
          <p:nvPr/>
        </p:nvSpPr>
        <p:spPr>
          <a:xfrm xmlns:a="http://schemas.openxmlformats.org/drawingml/2006/main">
            <a:off x="8039100" y="442912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163B36"/>
                </a:solidFill>
                <a:latin typeface="Arial"/>
                <a:ea typeface="Arial"/>
                <a:cs typeface="Arial"/>
              </a:defRPr>
            </a:pPr>
            <a:r>
              <a:rPr sz="1875" b="1">
                <a:solidFill>
                  <a:srgbClr val="163B36"/>
                </a:solidFill>
                <a:latin typeface="Arial"/>
                <a:ea typeface="Arial"/>
                <a:cs typeface="Arial"/>
              </a:rPr>
              <a:t>Price above similar homes</a:t>
            </a:r>
          </a:p>
        </p:txBody>
      </p:sp>
      <p:sp>
        <p:nvSpPr>
          <p:cNvPr id="15" name="">
            <a:extLst xmlns:a="http://schemas.openxmlformats.org/drawingml/2006/main">
              <a:ext uri="{FF2B5EF4-FFF2-40B4-BE49-F238E27FC236}">
                <a16:creationId xmlns:a16="http://schemas.microsoft.com/office/drawing/2014/main" id="{04BBFE0C-A930-4855-BC33-2B0CCC2C031A}"/>
              </a:ext>
            </a:extLst>
          </p:cNvPr>
          <p:cNvSpPr>
            <a:spLocks xmlns:a="http://schemas.openxmlformats.org/drawingml/2006/main" noGrp="1"/>
          </p:cNvSpPr>
          <p:nvPr/>
        </p:nvSpPr>
        <p:spPr>
          <a:xfrm xmlns:a="http://schemas.openxmlformats.org/drawingml/2006/main">
            <a:off x="8039100" y="4895850"/>
            <a:ext cx="3524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BD5A32"/>
                </a:solidFill>
                <a:latin typeface="Arial"/>
                <a:ea typeface="Arial"/>
                <a:cs typeface="Arial"/>
              </a:defRPr>
            </a:pPr>
            <a:r>
              <a:rPr sz="1875" b="0">
                <a:solidFill>
                  <a:srgbClr val="BD5A32"/>
                </a:solidFill>
                <a:latin typeface="Arial"/>
                <a:ea typeface="Arial"/>
                <a:cs typeface="Arial"/>
              </a:rPr>
              <a:t>Less likely to have</a:t>
            </a:r>
          </a:p>
          <a:p xmlns:a="http://schemas.openxmlformats.org/drawingml/2006/main">
            <a:pPr>
              <a:defRPr sz="1875" b="0">
                <a:solidFill>
                  <a:srgbClr val="BD5A32"/>
                </a:solidFill>
                <a:latin typeface="Arial"/>
                <a:ea typeface="Arial"/>
                <a:cs typeface="Arial"/>
              </a:defRPr>
            </a:pPr>
            <a:r>
              <a:rPr sz="1875" b="0">
                <a:solidFill>
                  <a:srgbClr val="BD5A32"/>
                </a:solidFill>
                <a:latin typeface="Arial"/>
                <a:ea typeface="Arial"/>
                <a:cs typeface="Arial"/>
              </a:rPr>
              <a:t>reached 30 reviews</a:t>
            </a:r>
          </a:p>
        </p:txBody>
      </p:sp>
      <p:sp>
        <p:nvSpPr>
          <p:cNvPr id="16" name="">
            <a:extLst xmlns:a="http://schemas.openxmlformats.org/drawingml/2006/main">
              <a:ext uri="{FF2B5EF4-FFF2-40B4-BE49-F238E27FC236}">
                <a16:creationId xmlns:a16="http://schemas.microsoft.com/office/drawing/2014/main" id="{4CF95380-FF0E-4F83-BC03-17012B329551}"/>
              </a:ext>
            </a:extLst>
          </p:cNvPr>
          <p:cNvSpPr>
            <a:spLocks xmlns:a="http://schemas.openxmlformats.org/drawingml/2006/main" noGrp="1"/>
          </p:cNvSpPr>
          <p:nvPr/>
        </p:nvSpPr>
        <p:spPr>
          <a:xfrm xmlns:a="http://schemas.openxmlformats.org/drawingml/2006/main">
            <a:off x="609600" y="59150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8665F"/>
                </a:solidFill>
                <a:latin typeface="Arial"/>
                <a:ea typeface="Arial"/>
                <a:cs typeface="Arial"/>
              </a:defRPr>
            </a:pPr>
            <a:r>
              <a:rPr sz="1650" b="0">
                <a:solidFill>
                  <a:srgbClr val="58665F"/>
                </a:solidFill>
                <a:latin typeface="Arial"/>
                <a:ea typeface="Arial"/>
                <a:cs typeface="Arial"/>
              </a:rPr>
              <a:t>Final main model: logistic regression for clarity. Interim random forest remains a benchmark.</a:t>
            </a:r>
          </a:p>
        </p:txBody>
      </p:sp>
    </p:spTree>
    <p:extLst>
      <p:ext uri="{BB962C8B-B14F-4D97-AF65-F5344CB8AC3E}">
        <p14:creationId xmlns:p14="http://schemas.microsoft.com/office/powerpoint/2010/main" val="2028899223"/>
      </p:ext>
    </p:extLst>
  </p:cSld>
  <p:transition spd="med" advClick="1">
    <p:fade/>
  </p:transition>
</p:sld>
</file>

<file path=ppt/slides/slide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7ECE5F6-38D9-49E5-93B3-4BEAC4339035}"/>
              </a:ext>
            </a:extLst>
          </p:cNvPr>
          <p:cNvSpPr>
            <a:spLocks xmlns:a="http://schemas.openxmlformats.org/drawingml/2006/main" noGrp="1"/>
          </p:cNvSpPr>
          <p:nvPr/>
        </p:nvSpPr>
        <p:spPr>
          <a:xfrm xmlns:a="http://schemas.openxmlformats.org/drawingml/2006/main">
            <a:off x="609600" y="3048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BD5A32"/>
                </a:solidFill>
                <a:latin typeface="Arial"/>
                <a:ea typeface="Arial"/>
                <a:cs typeface="Arial"/>
              </a:defRPr>
            </a:pPr>
            <a:r>
              <a:rPr sz="1200" b="1">
                <a:solidFill>
                  <a:srgbClr val="BD5A32"/>
                </a:solidFill>
                <a:latin typeface="Arial"/>
                <a:ea typeface="Arial"/>
                <a:cs typeface="Arial"/>
              </a:rPr>
              <a:t>FINDING 2 · HISTORICAL SCREENING</a:t>
            </a:r>
          </a:p>
        </p:txBody>
      </p:sp>
      <p:sp>
        <p:nvSpPr>
          <p:cNvPr id="2" name="">
            <a:extLst xmlns:a="http://schemas.openxmlformats.org/drawingml/2006/main">
              <a:ext uri="{FF2B5EF4-FFF2-40B4-BE49-F238E27FC236}">
                <a16:creationId xmlns:a16="http://schemas.microsoft.com/office/drawing/2014/main" id="{3EC4AD16-D613-4A65-B981-527D410C6F3A}"/>
              </a:ext>
            </a:extLst>
          </p:cNvPr>
          <p:cNvSpPr>
            <a:spLocks xmlns:a="http://schemas.openxmlformats.org/drawingml/2006/main" noGrp="1"/>
          </p:cNvSpPr>
          <p:nvPr/>
        </p:nvSpPr>
        <p:spPr>
          <a:xfrm xmlns:a="http://schemas.openxmlformats.org/drawingml/2006/main">
            <a:off x="609600" y="742950"/>
            <a:ext cx="1095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63B36"/>
                </a:solidFill>
                <a:latin typeface="Georgia"/>
                <a:ea typeface="Georgia"/>
                <a:cs typeface="Georgia"/>
              </a:defRPr>
            </a:pPr>
            <a:r>
              <a:rPr sz="3150" b="1">
                <a:solidFill>
                  <a:srgbClr val="163B36"/>
                </a:solidFill>
                <a:latin typeface="Georgia"/>
                <a:ea typeface="Georgia"/>
                <a:cs typeface="Georgia"/>
              </a:rPr>
              <a:t>The model found more high-review homes</a:t>
            </a:r>
          </a:p>
        </p:txBody>
      </p:sp>
      <p:sp>
        <p:nvSpPr>
          <p:cNvPr id="3" name="">
            <a:extLst xmlns:a="http://schemas.openxmlformats.org/drawingml/2006/main">
              <a:ext uri="{FF2B5EF4-FFF2-40B4-BE49-F238E27FC236}">
                <a16:creationId xmlns:a16="http://schemas.microsoft.com/office/drawing/2014/main" id="{3B7975A5-BA29-46F5-96A3-FD4B48FEDA1A}"/>
              </a:ext>
            </a:extLst>
          </p:cNvPr>
          <p:cNvSpPr>
            <a:spLocks xmlns:a="http://schemas.openxmlformats.org/drawingml/2006/main" noGrp="1"/>
          </p:cNvSpPr>
          <p:nvPr/>
        </p:nvSpPr>
        <p:spPr>
          <a:xfrm xmlns:a="http://schemas.openxmlformats.org/drawingml/2006/main">
            <a:off x="609600" y="64008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58665F"/>
                </a:solidFill>
                <a:latin typeface="Arial"/>
                <a:ea typeface="Arial"/>
                <a:cs typeface="Arial"/>
              </a:defRPr>
            </a:pPr>
            <a:r>
              <a:rPr sz="1050" b="0">
                <a:solidFill>
                  <a:srgbClr val="58665F"/>
                </a:solidFill>
                <a:latin typeface="Arial"/>
                <a:ea typeface="Arial"/>
                <a:cs typeface="Arial"/>
              </a:rPr>
              <a:t>Five host-grouped folds. Same expected screening quota: 969 homes. Ties share the remaining quota.</a:t>
            </a:r>
          </a:p>
        </p:txBody>
      </p:sp>
      <p:sp>
        <p:nvSpPr>
          <p:cNvPr id="4" name="">
            <a:extLst xmlns:a="http://schemas.openxmlformats.org/drawingml/2006/main">
              <a:ext uri="{FF2B5EF4-FFF2-40B4-BE49-F238E27FC236}">
                <a16:creationId xmlns:a16="http://schemas.microsoft.com/office/drawing/2014/main" id="{3A68EC0C-0E9C-4429-8AAB-54CDA6CB3700}"/>
              </a:ext>
            </a:extLst>
          </p:cNvPr>
          <p:cNvSpPr>
            <a:spLocks xmlns:a="http://schemas.openxmlformats.org/drawingml/2006/main" noGrp="1"/>
          </p:cNvSpPr>
          <p:nvPr/>
        </p:nvSpPr>
        <p:spPr>
          <a:xfrm xmlns:a="http://schemas.openxmlformats.org/drawingml/2006/main">
            <a:off x="11439525" y="6400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65F"/>
                </a:solidFill>
                <a:latin typeface="Arial"/>
                <a:ea typeface="Arial"/>
                <a:cs typeface="Arial"/>
              </a:defRPr>
            </a:pPr>
            <a:r>
              <a:rPr sz="1125" b="0">
                <a:solidFill>
                  <a:srgbClr val="58665F"/>
                </a:solidFill>
                <a:latin typeface="Arial"/>
                <a:ea typeface="Arial"/>
                <a:cs typeface="Arial"/>
              </a:rPr>
              <a:t>6</a:t>
            </a:r>
          </a:p>
        </p:txBody>
      </p:sp>
      <p:sp>
        <p:nvSpPr>
          <p:cNvPr id="5" name="">
            <a:extLst xmlns:a="http://schemas.openxmlformats.org/drawingml/2006/main">
              <a:ext uri="{FF2B5EF4-FFF2-40B4-BE49-F238E27FC236}">
                <a16:creationId xmlns:a16="http://schemas.microsoft.com/office/drawing/2014/main" id="{A4569F2F-2099-484E-AAB5-D39972E216F8}"/>
              </a:ext>
            </a:extLst>
          </p:cNvPr>
          <p:cNvSpPr>
            <a:spLocks xmlns:a="http://schemas.openxmlformats.org/drawingml/2006/main" noGrp="1"/>
          </p:cNvSpPr>
          <p:nvPr/>
        </p:nvSpPr>
        <p:spPr>
          <a:xfrm xmlns:a="http://schemas.openxmlformats.org/drawingml/2006/main">
            <a:off x="609600" y="16383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58665F"/>
                </a:solidFill>
                <a:latin typeface="Arial"/>
                <a:ea typeface="Arial"/>
                <a:cs typeface="Arial"/>
              </a:defRPr>
            </a:pPr>
            <a:r>
              <a:rPr sz="2175" b="0">
                <a:solidFill>
                  <a:srgbClr val="58665F"/>
                </a:solidFill>
                <a:latin typeface="Arial"/>
                <a:ea typeface="Arial"/>
                <a:cs typeface="Arial"/>
              </a:rPr>
              <a:t>Historical test across all 3,873 eligible homes</a:t>
            </a:r>
          </a:p>
        </p:txBody>
      </p:sp>
      <p:sp>
        <p:nvSpPr>
          <p:cNvPr id="6" name="">
            <a:extLst xmlns:a="http://schemas.openxmlformats.org/drawingml/2006/main">
              <a:ext uri="{FF2B5EF4-FFF2-40B4-BE49-F238E27FC236}">
                <a16:creationId xmlns:a16="http://schemas.microsoft.com/office/drawing/2014/main" id="{7BD16754-1CEB-4FD1-9B2A-55D967D67670}"/>
              </a:ext>
            </a:extLst>
          </p:cNvPr>
          <p:cNvSpPr>
            <a:spLocks xmlns:a="http://schemas.openxmlformats.org/drawingml/2006/main" noGrp="1"/>
          </p:cNvSpPr>
          <p:nvPr/>
        </p:nvSpPr>
        <p:spPr>
          <a:xfrm xmlns:a="http://schemas.openxmlformats.org/drawingml/2006/main">
            <a:off x="609600" y="2238375"/>
            <a:ext cx="7715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63B36"/>
                </a:solidFill>
                <a:latin typeface="Arial"/>
                <a:ea typeface="Arial"/>
                <a:cs typeface="Arial"/>
              </a:defRPr>
            </a:pPr>
            <a:r>
              <a:rPr sz="1875" b="0">
                <a:solidFill>
                  <a:srgbClr val="163B36"/>
                </a:solidFill>
                <a:latin typeface="Arial"/>
                <a:ea typeface="Arial"/>
                <a:cs typeface="Arial"/>
              </a:rPr>
              <a:t>Share of selected homes reaching 30+ reviews</a:t>
            </a:r>
          </a:p>
        </p:txBody>
      </p:sp>
      <p:graphicFrame>
        <p:nvGraphicFramePr>
          <p:cNvPr id="20" name="Chart"/>
          <p:cNvGraphicFramePr/>
          <p:nvPr/>
        </p:nvGraphicFramePr>
        <p:xfrm>
          <a:off xmlns:a="http://schemas.openxmlformats.org/drawingml/2006/main" x="428625" y="2743200"/>
          <a:ext xmlns:a="http://schemas.openxmlformats.org/drawingml/2006/main" cx="7762875" cy="2743200"/>
        </p:xfrm>
        <a:graphic xmlns:a="http://schemas.openxmlformats.org/drawingml/2006/main">
          <a:graphicData uri="http://schemas.openxmlformats.org/drawingml/2006/chart">
            <c:chart xmlns:r="http://schemas.openxmlformats.org/officeDocument/2006/relationships" xmlns:c="http://schemas.openxmlformats.org/drawingml/2006/chart" r:id="Raaa4159e7d984d33"/>
          </a:graphicData>
        </a:graphic>
      </p:graphicFrame>
      <p:sp>
        <p:nvSpPr>
          <p:cNvPr id="8" name="">
            <a:extLst xmlns:a="http://schemas.openxmlformats.org/drawingml/2006/main">
              <a:ext uri="{FF2B5EF4-FFF2-40B4-BE49-F238E27FC236}">
                <a16:creationId xmlns:a16="http://schemas.microsoft.com/office/drawing/2014/main" id="{3B4C094C-E7E1-4CD9-9F76-3AEAF7CCBC2A}"/>
              </a:ext>
            </a:extLst>
          </p:cNvPr>
          <p:cNvSpPr>
            <a:spLocks xmlns:a="http://schemas.openxmlformats.org/drawingml/2006/main" noGrp="1"/>
          </p:cNvSpPr>
          <p:nvPr/>
        </p:nvSpPr>
        <p:spPr>
          <a:xfrm xmlns:a="http://schemas.openxmlformats.org/drawingml/2006/main">
            <a:off x="8753475" y="2524125"/>
            <a:ext cx="285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525" b="1">
                <a:solidFill>
                  <a:srgbClr val="237E72"/>
                </a:solidFill>
                <a:latin typeface="Georgia"/>
                <a:ea typeface="Georgia"/>
                <a:cs typeface="Georgia"/>
              </a:defRPr>
            </a:pPr>
            <a:r>
              <a:rPr sz="3525" b="1">
                <a:solidFill>
                  <a:srgbClr val="237E72"/>
                </a:solidFill>
                <a:latin typeface="Georgia"/>
                <a:ea typeface="Georgia"/>
                <a:cs typeface="Georgia"/>
              </a:rPr>
              <a:t>423 / 969</a:t>
            </a:r>
          </a:p>
        </p:txBody>
      </p:sp>
      <p:sp>
        <p:nvSpPr>
          <p:cNvPr id="9" name="">
            <a:extLst xmlns:a="http://schemas.openxmlformats.org/drawingml/2006/main">
              <a:ext uri="{FF2B5EF4-FFF2-40B4-BE49-F238E27FC236}">
                <a16:creationId xmlns:a16="http://schemas.microsoft.com/office/drawing/2014/main" id="{BAA1B4E8-19FE-4F00-8459-631773B69541}"/>
              </a:ext>
            </a:extLst>
          </p:cNvPr>
          <p:cNvSpPr>
            <a:spLocks xmlns:a="http://schemas.openxmlformats.org/drawingml/2006/main" noGrp="1"/>
          </p:cNvSpPr>
          <p:nvPr/>
        </p:nvSpPr>
        <p:spPr>
          <a:xfrm xmlns:a="http://schemas.openxmlformats.org/drawingml/2006/main">
            <a:off x="8753475" y="3286125"/>
            <a:ext cx="2857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63B36"/>
                </a:solidFill>
                <a:latin typeface="Arial"/>
                <a:ea typeface="Arial"/>
                <a:cs typeface="Arial"/>
              </a:defRPr>
            </a:pPr>
            <a:r>
              <a:rPr sz="1950" b="0">
                <a:solidFill>
                  <a:srgbClr val="163B36"/>
                </a:solidFill>
                <a:latin typeface="Arial"/>
                <a:ea typeface="Arial"/>
                <a:cs typeface="Arial"/>
              </a:rPr>
              <a:t>selected homes met</a:t>
            </a:r>
          </a:p>
          <a:p xmlns:a="http://schemas.openxmlformats.org/drawingml/2006/main">
            <a:pPr>
              <a:defRPr sz="1950" b="0">
                <a:solidFill>
                  <a:srgbClr val="163B36"/>
                </a:solidFill>
                <a:latin typeface="Arial"/>
                <a:ea typeface="Arial"/>
                <a:cs typeface="Arial"/>
              </a:defRPr>
            </a:pPr>
            <a:r>
              <a:rPr sz="1950" b="0">
                <a:solidFill>
                  <a:srgbClr val="163B36"/>
                </a:solidFill>
                <a:latin typeface="Arial"/>
                <a:ea typeface="Arial"/>
                <a:cs typeface="Arial"/>
              </a:rPr>
              <a:t>the review target.</a:t>
            </a:r>
          </a:p>
        </p:txBody>
      </p:sp>
      <p:graphicFrame>
        <p:nvGraphicFramePr>
          <p:cNvPr id="23" name="Chart"/>
          <p:cNvGraphicFramePr/>
          <p:nvPr/>
        </p:nvGraphicFramePr>
        <p:xfrm>
          <a:off xmlns:a="http://schemas.openxmlformats.org/drawingml/2006/main" x="8629650" y="4267200"/>
          <a:ext xmlns:a="http://schemas.openxmlformats.org/drawingml/2006/main" cx="2971800" cy="666750"/>
        </p:xfrm>
        <a:graphic xmlns:a="http://schemas.openxmlformats.org/drawingml/2006/main">
          <a:graphicData uri="http://schemas.openxmlformats.org/drawingml/2006/chart">
            <c:chart xmlns:r="http://schemas.openxmlformats.org/officeDocument/2006/relationships" xmlns:c="http://schemas.openxmlformats.org/drawingml/2006/chart" r:id="Rb77821940ca24af0"/>
          </a:graphicData>
        </a:graphic>
      </p:graphicFrame>
      <p:sp>
        <p:nvSpPr>
          <p:cNvPr id="11" name="">
            <a:extLst xmlns:a="http://schemas.openxmlformats.org/drawingml/2006/main">
              <a:ext uri="{FF2B5EF4-FFF2-40B4-BE49-F238E27FC236}">
                <a16:creationId xmlns:a16="http://schemas.microsoft.com/office/drawing/2014/main" id="{4618DA6C-36F1-49A7-BF6F-7A1E93D741C5}"/>
              </a:ext>
            </a:extLst>
          </p:cNvPr>
          <p:cNvSpPr>
            <a:spLocks xmlns:a="http://schemas.openxmlformats.org/drawingml/2006/main" noGrp="1"/>
          </p:cNvSpPr>
          <p:nvPr/>
        </p:nvSpPr>
        <p:spPr>
          <a:xfrm xmlns:a="http://schemas.openxmlformats.org/drawingml/2006/main">
            <a:off x="8753475" y="51530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BD5A32"/>
                </a:solidFill>
                <a:latin typeface="Arial"/>
                <a:ea typeface="Arial"/>
                <a:cs typeface="Arial"/>
              </a:defRPr>
            </a:pPr>
            <a:r>
              <a:rPr sz="1875" b="1">
                <a:solidFill>
                  <a:srgbClr val="BD5A32"/>
                </a:solidFill>
                <a:latin typeface="Arial"/>
                <a:ea typeface="Arial"/>
                <a:cs typeface="Arial"/>
              </a:rPr>
              <a:t>546 did not meet it.</a:t>
            </a:r>
          </a:p>
        </p:txBody>
      </p:sp>
      <p:sp>
        <p:nvSpPr>
          <p:cNvPr id="12" name="">
            <a:extLst xmlns:a="http://schemas.openxmlformats.org/drawingml/2006/main">
              <a:ext uri="{FF2B5EF4-FFF2-40B4-BE49-F238E27FC236}">
                <a16:creationId xmlns:a16="http://schemas.microsoft.com/office/drawing/2014/main" id="{A04D70C0-6677-43FA-826F-B8123305DB36}"/>
              </a:ext>
            </a:extLst>
          </p:cNvPr>
          <p:cNvSpPr>
            <a:spLocks xmlns:a="http://schemas.openxmlformats.org/drawingml/2006/main" noGrp="1"/>
          </p:cNvSpPr>
          <p:nvPr/>
        </p:nvSpPr>
        <p:spPr>
          <a:xfrm xmlns:a="http://schemas.openxmlformats.org/drawingml/2006/main">
            <a:off x="609600" y="56769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37E72"/>
                </a:solidFill>
                <a:latin typeface="Arial"/>
                <a:ea typeface="Arial"/>
                <a:cs typeface="Arial"/>
              </a:defRPr>
            </a:pPr>
            <a:r>
              <a:rPr sz="2175" b="1">
                <a:solidFill>
                  <a:srgbClr val="237E72"/>
                </a:solidFill>
                <a:latin typeface="Arial"/>
                <a:ea typeface="Arial"/>
                <a:cs typeface="Arial"/>
              </a:rPr>
              <a:t>About 16 more target-reaching homes for every 100 selected.</a:t>
            </a:r>
          </a:p>
        </p:txBody>
      </p:sp>
      <p:sp>
        <p:nvSpPr>
          <p:cNvPr id="13" name="">
            <a:extLst xmlns:a="http://schemas.openxmlformats.org/drawingml/2006/main">
              <a:ext uri="{FF2B5EF4-FFF2-40B4-BE49-F238E27FC236}">
                <a16:creationId xmlns:a16="http://schemas.microsoft.com/office/drawing/2014/main" id="{9058F407-41AB-4087-A9F4-5E354D5469BA}"/>
              </a:ext>
            </a:extLst>
          </p:cNvPr>
          <p:cNvSpPr>
            <a:spLocks xmlns:a="http://schemas.openxmlformats.org/drawingml/2006/main" noGrp="1"/>
          </p:cNvSpPr>
          <p:nvPr/>
        </p:nvSpPr>
        <p:spPr>
          <a:xfrm xmlns:a="http://schemas.openxmlformats.org/drawingml/2006/main">
            <a:off x="609600" y="607695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58665F"/>
                </a:solidFill>
                <a:latin typeface="Arial"/>
                <a:ea typeface="Arial"/>
                <a:cs typeface="Arial"/>
              </a:defRPr>
            </a:pPr>
            <a:r>
              <a:rPr sz="1575" b="0">
                <a:solidFill>
                  <a:srgbClr val="58665F"/>
                </a:solidFill>
                <a:latin typeface="Arial"/>
                <a:ea typeface="Arial"/>
                <a:cs typeface="Arial"/>
              </a:rPr>
              <a:t>Test hosts were excluded from training. Future bookings and profit remain untested.</a:t>
            </a:r>
          </a:p>
        </p:txBody>
      </p:sp>
    </p:spTree>
    <p:extLst>
      <p:ext uri="{BB962C8B-B14F-4D97-AF65-F5344CB8AC3E}">
        <p14:creationId xmlns:p14="http://schemas.microsoft.com/office/powerpoint/2010/main" val="1068341187"/>
      </p:ext>
    </p:extLst>
  </p:cSld>
  <p:transition spd="med" advClick="1">
    <p:fade/>
  </p:transition>
</p:sld>
</file>

<file path=ppt/slides/slide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806738D-0BD5-42CA-B185-90B2C759B888}"/>
              </a:ext>
            </a:extLst>
          </p:cNvPr>
          <p:cNvSpPr>
            <a:spLocks xmlns:a="http://schemas.openxmlformats.org/drawingml/2006/main" noGrp="1"/>
          </p:cNvSpPr>
          <p:nvPr/>
        </p:nvSpPr>
        <p:spPr>
          <a:xfrm xmlns:a="http://schemas.openxmlformats.org/drawingml/2006/main">
            <a:off x="609600" y="3048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BD5A32"/>
                </a:solidFill>
                <a:latin typeface="Arial"/>
                <a:ea typeface="Arial"/>
                <a:cs typeface="Arial"/>
              </a:defRPr>
            </a:pPr>
            <a:r>
              <a:rPr sz="1200" b="1">
                <a:solidFill>
                  <a:srgbClr val="BD5A32"/>
                </a:solidFill>
                <a:latin typeface="Arial"/>
                <a:ea typeface="Arial"/>
                <a:cs typeface="Arial"/>
              </a:rPr>
              <a:t>FINDING 3 · A SEPARATE HISTORICAL CHECK</a:t>
            </a:r>
          </a:p>
        </p:txBody>
      </p:sp>
      <p:sp>
        <p:nvSpPr>
          <p:cNvPr id="2" name="">
            <a:extLst xmlns:a="http://schemas.openxmlformats.org/drawingml/2006/main">
              <a:ext uri="{FF2B5EF4-FFF2-40B4-BE49-F238E27FC236}">
                <a16:creationId xmlns:a16="http://schemas.microsoft.com/office/drawing/2014/main" id="{A4F5EBA0-A744-45AB-8B21-B518917241D2}"/>
              </a:ext>
            </a:extLst>
          </p:cNvPr>
          <p:cNvSpPr>
            <a:spLocks xmlns:a="http://schemas.openxmlformats.org/drawingml/2006/main" noGrp="1"/>
          </p:cNvSpPr>
          <p:nvPr/>
        </p:nvSpPr>
        <p:spPr>
          <a:xfrm xmlns:a="http://schemas.openxmlformats.org/drawingml/2006/main">
            <a:off x="609600" y="742950"/>
            <a:ext cx="1095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63B36"/>
                </a:solidFill>
                <a:latin typeface="Georgia"/>
                <a:ea typeface="Georgia"/>
                <a:cs typeface="Georgia"/>
              </a:defRPr>
            </a:pPr>
            <a:r>
              <a:rPr sz="3150" b="1">
                <a:solidFill>
                  <a:srgbClr val="163B36"/>
                </a:solidFill>
                <a:latin typeface="Georgia"/>
                <a:ea typeface="Georgia"/>
                <a:cs typeface="Georgia"/>
              </a:rPr>
              <a:t>The same three groups stayed ahead</a:t>
            </a:r>
          </a:p>
        </p:txBody>
      </p:sp>
      <p:sp>
        <p:nvSpPr>
          <p:cNvPr id="3" name="">
            <a:extLst xmlns:a="http://schemas.openxmlformats.org/drawingml/2006/main">
              <a:ext uri="{FF2B5EF4-FFF2-40B4-BE49-F238E27FC236}">
                <a16:creationId xmlns:a16="http://schemas.microsoft.com/office/drawing/2014/main" id="{DA89B9E8-457B-4ABA-8007-D536770681AE}"/>
              </a:ext>
            </a:extLst>
          </p:cNvPr>
          <p:cNvSpPr>
            <a:spLocks xmlns:a="http://schemas.openxmlformats.org/drawingml/2006/main" noGrp="1"/>
          </p:cNvSpPr>
          <p:nvPr/>
        </p:nvSpPr>
        <p:spPr>
          <a:xfrm xmlns:a="http://schemas.openxmlformats.org/drawingml/2006/main">
            <a:off x="609600" y="64008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58665F"/>
                </a:solidFill>
                <a:latin typeface="Arial"/>
                <a:ea typeface="Arial"/>
                <a:cs typeface="Arial"/>
              </a:defRPr>
            </a:pPr>
            <a:r>
              <a:rPr sz="1050" b="0">
                <a:solidFill>
                  <a:srgbClr val="58665F"/>
                </a:solidFill>
                <a:latin typeface="Arial"/>
                <a:ea typeface="Arial"/>
                <a:cs typeface="Arial"/>
              </a:rPr>
              <a:t>Source: one supplied snapshot of dated reviews; earlier reference sample sets 34. Same three groups as slide 4.</a:t>
            </a:r>
          </a:p>
        </p:txBody>
      </p:sp>
      <p:sp>
        <p:nvSpPr>
          <p:cNvPr id="4" name="">
            <a:extLst xmlns:a="http://schemas.openxmlformats.org/drawingml/2006/main">
              <a:ext uri="{FF2B5EF4-FFF2-40B4-BE49-F238E27FC236}">
                <a16:creationId xmlns:a16="http://schemas.microsoft.com/office/drawing/2014/main" id="{F4790264-176F-4CD3-8D4D-DA062EECCEE7}"/>
              </a:ext>
            </a:extLst>
          </p:cNvPr>
          <p:cNvSpPr>
            <a:spLocks xmlns:a="http://schemas.openxmlformats.org/drawingml/2006/main" noGrp="1"/>
          </p:cNvSpPr>
          <p:nvPr/>
        </p:nvSpPr>
        <p:spPr>
          <a:xfrm xmlns:a="http://schemas.openxmlformats.org/drawingml/2006/main">
            <a:off x="11439525" y="6400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65F"/>
                </a:solidFill>
                <a:latin typeface="Arial"/>
                <a:ea typeface="Arial"/>
                <a:cs typeface="Arial"/>
              </a:defRPr>
            </a:pPr>
            <a:r>
              <a:rPr sz="1125" b="0">
                <a:solidFill>
                  <a:srgbClr val="58665F"/>
                </a:solidFill>
                <a:latin typeface="Arial"/>
                <a:ea typeface="Arial"/>
                <a:cs typeface="Arial"/>
              </a:rPr>
              <a:t>7</a:t>
            </a:r>
          </a:p>
        </p:txBody>
      </p:sp>
      <p:sp>
        <p:nvSpPr>
          <p:cNvPr id="5" name="">
            <a:extLst xmlns:a="http://schemas.openxmlformats.org/drawingml/2006/main">
              <a:ext uri="{FF2B5EF4-FFF2-40B4-BE49-F238E27FC236}">
                <a16:creationId xmlns:a16="http://schemas.microsoft.com/office/drawing/2014/main" id="{FF71882C-75E3-4BE2-B677-91C157CC5545}"/>
              </a:ext>
            </a:extLst>
          </p:cNvPr>
          <p:cNvSpPr>
            <a:spLocks xmlns:a="http://schemas.openxmlformats.org/drawingml/2006/main" noGrp="1"/>
          </p:cNvSpPr>
          <p:nvPr/>
        </p:nvSpPr>
        <p:spPr>
          <a:xfrm xmlns:a="http://schemas.openxmlformats.org/drawingml/2006/main">
            <a:off x="609600" y="16383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163B36"/>
                </a:solidFill>
                <a:latin typeface="Arial"/>
                <a:ea typeface="Arial"/>
                <a:cs typeface="Arial"/>
              </a:defRPr>
            </a:pPr>
            <a:r>
              <a:rPr sz="2250" b="1">
                <a:solidFill>
                  <a:srgbClr val="163B36"/>
                </a:solidFill>
                <a:latin typeface="Arial"/>
                <a:ea typeface="Arial"/>
                <a:cs typeface="Arial"/>
              </a:rPr>
              <a:t>Same 2,657 surviving homes. Two windows from one snapshot.</a:t>
            </a:r>
          </a:p>
        </p:txBody>
      </p:sp>
      <p:sp>
        <p:nvSpPr>
          <p:cNvPr id="6" name="">
            <a:extLst xmlns:a="http://schemas.openxmlformats.org/drawingml/2006/main">
              <a:ext uri="{FF2B5EF4-FFF2-40B4-BE49-F238E27FC236}">
                <a16:creationId xmlns:a16="http://schemas.microsoft.com/office/drawing/2014/main" id="{55692CBA-2EC0-455C-8B05-32498BD66D4A}"/>
              </a:ext>
            </a:extLst>
          </p:cNvPr>
          <p:cNvSpPr>
            <a:spLocks xmlns:a="http://schemas.openxmlformats.org/drawingml/2006/main" noGrp="1"/>
          </p:cNvSpPr>
          <p:nvPr/>
        </p:nvSpPr>
        <p:spPr>
          <a:xfrm xmlns:a="http://schemas.openxmlformats.org/drawingml/2006/main">
            <a:off x="609600" y="21336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58665F"/>
                </a:solidFill>
                <a:latin typeface="Arial"/>
                <a:ea typeface="Arial"/>
                <a:cs typeface="Arial"/>
              </a:defRPr>
            </a:pPr>
            <a:r>
              <a:rPr sz="2175" b="0">
                <a:solidFill>
                  <a:srgbClr val="58665F"/>
                </a:solidFill>
                <a:latin typeface="Arial"/>
                <a:ea typeface="Arial"/>
                <a:cs typeface="Arial"/>
              </a:rPr>
              <a:t>A separate check uses 34 reviews as the target in both years.</a:t>
            </a:r>
          </a:p>
        </p:txBody>
      </p:sp>
      <p:sp>
        <p:nvSpPr>
          <p:cNvPr id="7" name="">
            <a:extLst xmlns:a="http://schemas.openxmlformats.org/drawingml/2006/main">
              <a:ext uri="{FF2B5EF4-FFF2-40B4-BE49-F238E27FC236}">
                <a16:creationId xmlns:a16="http://schemas.microsoft.com/office/drawing/2014/main" id="{C6CD46CB-3459-4430-8C91-767AA54CFA4B}"/>
              </a:ext>
            </a:extLst>
          </p:cNvPr>
          <p:cNvSpPr>
            <a:spLocks xmlns:a="http://schemas.openxmlformats.org/drawingml/2006/main" noGrp="1"/>
          </p:cNvSpPr>
          <p:nvPr/>
        </p:nvSpPr>
        <p:spPr>
          <a:xfrm xmlns:a="http://schemas.openxmlformats.org/drawingml/2006/main">
            <a:off x="609600" y="3057525"/>
            <a:ext cx="3848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237E72"/>
                </a:solidFill>
                <a:latin typeface="Arial"/>
                <a:ea typeface="Arial"/>
                <a:cs typeface="Arial"/>
              </a:defRPr>
            </a:pPr>
            <a:r>
              <a:rPr sz="2475" b="1">
                <a:solidFill>
                  <a:srgbClr val="237E72"/>
                </a:solidFill>
                <a:latin typeface="Arial"/>
                <a:ea typeface="Arial"/>
                <a:cs typeface="Arial"/>
              </a:rPr>
              <a:t>2024–25</a:t>
            </a:r>
          </a:p>
        </p:txBody>
      </p:sp>
      <p:sp>
        <p:nvSpPr>
          <p:cNvPr id="8" name="">
            <a:extLst xmlns:a="http://schemas.openxmlformats.org/drawingml/2006/main">
              <a:ext uri="{FF2B5EF4-FFF2-40B4-BE49-F238E27FC236}">
                <a16:creationId xmlns:a16="http://schemas.microsoft.com/office/drawing/2014/main" id="{A91F9F47-8195-4827-8DC5-1B6DB773E5D2}"/>
              </a:ext>
            </a:extLst>
          </p:cNvPr>
          <p:cNvSpPr>
            <a:spLocks xmlns:a="http://schemas.openxmlformats.org/drawingml/2006/main" noGrp="1"/>
          </p:cNvSpPr>
          <p:nvPr/>
        </p:nvSpPr>
        <p:spPr>
          <a:xfrm xmlns:a="http://schemas.openxmlformats.org/drawingml/2006/main">
            <a:off x="609600" y="3600450"/>
            <a:ext cx="39719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63B36"/>
                </a:solidFill>
                <a:latin typeface="Arial"/>
                <a:ea typeface="Arial"/>
                <a:cs typeface="Arial"/>
              </a:defRPr>
            </a:pPr>
            <a:r>
              <a:rPr sz="2100" b="0">
                <a:solidFill>
                  <a:srgbClr val="163B36"/>
                </a:solidFill>
                <a:latin typeface="Arial"/>
                <a:ea typeface="Arial"/>
                <a:cs typeface="Arial"/>
              </a:rPr>
              <a:t>Select the three</a:t>
            </a:r>
          </a:p>
          <a:p xmlns:a="http://schemas.openxmlformats.org/drawingml/2006/main">
            <a:pPr>
              <a:defRPr sz="2100" b="0">
                <a:solidFill>
                  <a:srgbClr val="163B36"/>
                </a:solidFill>
                <a:latin typeface="Arial"/>
                <a:ea typeface="Arial"/>
                <a:cs typeface="Arial"/>
              </a:defRPr>
            </a:pPr>
            <a:r>
              <a:rPr sz="2100" b="0">
                <a:solidFill>
                  <a:srgbClr val="163B36"/>
                </a:solidFill>
                <a:latin typeface="Arial"/>
                <a:ea typeface="Arial"/>
                <a:cs typeface="Arial"/>
              </a:rPr>
              <a:t>leading property groups.</a:t>
            </a:r>
          </a:p>
        </p:txBody>
      </p:sp>
      <p:sp>
        <p:nvSpPr>
          <p:cNvPr id="9" name="">
            <a:extLst xmlns:a="http://schemas.openxmlformats.org/drawingml/2006/main">
              <a:ext uri="{FF2B5EF4-FFF2-40B4-BE49-F238E27FC236}">
                <a16:creationId xmlns:a16="http://schemas.microsoft.com/office/drawing/2014/main" id="{6031FDFA-FC2A-482D-AE63-EA1390C09696}"/>
              </a:ext>
            </a:extLst>
          </p:cNvPr>
          <p:cNvSpPr>
            <a:spLocks xmlns:a="http://schemas.openxmlformats.org/drawingml/2006/main" noGrp="1"/>
          </p:cNvSpPr>
          <p:nvPr/>
        </p:nvSpPr>
        <p:spPr>
          <a:xfrm xmlns:a="http://schemas.openxmlformats.org/drawingml/2006/main">
            <a:off x="609600" y="4676775"/>
            <a:ext cx="3848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1">
                <a:solidFill>
                  <a:srgbClr val="BD5A32"/>
                </a:solidFill>
                <a:latin typeface="Arial"/>
                <a:ea typeface="Arial"/>
                <a:cs typeface="Arial"/>
              </a:defRPr>
            </a:pPr>
            <a:r>
              <a:rPr sz="2475" b="1">
                <a:solidFill>
                  <a:srgbClr val="BD5A32"/>
                </a:solidFill>
                <a:latin typeface="Arial"/>
                <a:ea typeface="Arial"/>
                <a:cs typeface="Arial"/>
              </a:rPr>
              <a:t>2025–26</a:t>
            </a:r>
          </a:p>
        </p:txBody>
      </p:sp>
      <p:sp>
        <p:nvSpPr>
          <p:cNvPr id="10" name="">
            <a:extLst xmlns:a="http://schemas.openxmlformats.org/drawingml/2006/main">
              <a:ext uri="{FF2B5EF4-FFF2-40B4-BE49-F238E27FC236}">
                <a16:creationId xmlns:a16="http://schemas.microsoft.com/office/drawing/2014/main" id="{CA6CCE3E-C78B-4D0E-831C-5195C242A424}"/>
              </a:ext>
            </a:extLst>
          </p:cNvPr>
          <p:cNvSpPr>
            <a:spLocks xmlns:a="http://schemas.openxmlformats.org/drawingml/2006/main" noGrp="1"/>
          </p:cNvSpPr>
          <p:nvPr/>
        </p:nvSpPr>
        <p:spPr>
          <a:xfrm xmlns:a="http://schemas.openxmlformats.org/drawingml/2006/main">
            <a:off x="609600" y="5210175"/>
            <a:ext cx="4038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63B36"/>
                </a:solidFill>
                <a:latin typeface="Arial"/>
                <a:ea typeface="Arial"/>
                <a:cs typeface="Arial"/>
              </a:defRPr>
            </a:pPr>
            <a:r>
              <a:rPr sz="2100" b="0">
                <a:solidFill>
                  <a:srgbClr val="163B36"/>
                </a:solidFill>
                <a:latin typeface="Arial"/>
                <a:ea typeface="Arial"/>
                <a:cs typeface="Arial"/>
              </a:rPr>
              <a:t>Check the same</a:t>
            </a:r>
          </a:p>
          <a:p xmlns:a="http://schemas.openxmlformats.org/drawingml/2006/main">
            <a:pPr>
              <a:defRPr sz="2100" b="0">
                <a:solidFill>
                  <a:srgbClr val="163B36"/>
                </a:solidFill>
                <a:latin typeface="Arial"/>
                <a:ea typeface="Arial"/>
                <a:cs typeface="Arial"/>
              </a:defRPr>
            </a:pPr>
            <a:r>
              <a:rPr sz="2100" b="0">
                <a:solidFill>
                  <a:srgbClr val="163B36"/>
                </a:solidFill>
                <a:latin typeface="Arial"/>
                <a:ea typeface="Arial"/>
                <a:cs typeface="Arial"/>
              </a:rPr>
              <a:t>surviving homes again.</a:t>
            </a:r>
          </a:p>
        </p:txBody>
      </p:sp>
      <p:sp>
        <p:nvSpPr>
          <p:cNvPr id="11" name="">
            <a:extLst xmlns:a="http://schemas.openxmlformats.org/drawingml/2006/main">
              <a:ext uri="{FF2B5EF4-FFF2-40B4-BE49-F238E27FC236}">
                <a16:creationId xmlns:a16="http://schemas.microsoft.com/office/drawing/2014/main" id="{747538E5-24AA-4411-862C-2356B2B235B4}"/>
              </a:ext>
            </a:extLst>
          </p:cNvPr>
          <p:cNvSpPr>
            <a:spLocks xmlns:a="http://schemas.openxmlformats.org/drawingml/2006/main" noGrp="1"/>
          </p:cNvSpPr>
          <p:nvPr/>
        </p:nvSpPr>
        <p:spPr>
          <a:xfrm xmlns:a="http://schemas.openxmlformats.org/drawingml/2006/main">
            <a:off x="4953000" y="2924175"/>
            <a:ext cx="6581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63B36"/>
                </a:solidFill>
                <a:latin typeface="Arial"/>
                <a:ea typeface="Arial"/>
                <a:cs typeface="Arial"/>
              </a:defRPr>
            </a:pPr>
            <a:r>
              <a:rPr sz="1875" b="0">
                <a:solidFill>
                  <a:srgbClr val="163B36"/>
                </a:solidFill>
                <a:latin typeface="Arial"/>
                <a:ea typeface="Arial"/>
                <a:cs typeface="Arial"/>
              </a:rPr>
              <a:t>Reached 34+ reviews in the second year</a:t>
            </a:r>
          </a:p>
        </p:txBody>
      </p:sp>
      <p:graphicFrame>
        <p:nvGraphicFramePr>
          <p:cNvPr id="25" name="Chart"/>
          <p:cNvGraphicFramePr/>
          <p:nvPr/>
        </p:nvGraphicFramePr>
        <p:xfrm>
          <a:off xmlns:a="http://schemas.openxmlformats.org/drawingml/2006/main" x="4905375" y="3429000"/>
          <a:ext xmlns:a="http://schemas.openxmlformats.org/drawingml/2006/main" cx="6772275" cy="2114550"/>
        </p:xfrm>
        <a:graphic xmlns:a="http://schemas.openxmlformats.org/drawingml/2006/main">
          <a:graphicData uri="http://schemas.openxmlformats.org/drawingml/2006/chart">
            <c:chart xmlns:r="http://schemas.openxmlformats.org/officeDocument/2006/relationships" xmlns:c="http://schemas.openxmlformats.org/drawingml/2006/chart" r:id="Rd83802426e414ac6"/>
          </a:graphicData>
        </a:graphic>
      </p:graphicFrame>
      <p:sp>
        <p:nvSpPr>
          <p:cNvPr id="13" name="">
            <a:extLst xmlns:a="http://schemas.openxmlformats.org/drawingml/2006/main">
              <a:ext uri="{FF2B5EF4-FFF2-40B4-BE49-F238E27FC236}">
                <a16:creationId xmlns:a16="http://schemas.microsoft.com/office/drawing/2014/main" id="{8C26688C-3462-4094-9484-8BB206304425}"/>
              </a:ext>
            </a:extLst>
          </p:cNvPr>
          <p:cNvSpPr>
            <a:spLocks xmlns:a="http://schemas.openxmlformats.org/drawingml/2006/main" noGrp="1"/>
          </p:cNvSpPr>
          <p:nvPr/>
        </p:nvSpPr>
        <p:spPr>
          <a:xfrm xmlns:a="http://schemas.openxmlformats.org/drawingml/2006/main">
            <a:off x="4953000" y="5734050"/>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8665F"/>
                </a:solidFill>
                <a:latin typeface="Arial"/>
                <a:ea typeface="Arial"/>
                <a:cs typeface="Arial"/>
              </a:defRPr>
            </a:pPr>
            <a:r>
              <a:rPr sz="1875" b="0">
                <a:solidFill>
                  <a:srgbClr val="58665F"/>
                </a:solidFill>
                <a:latin typeface="Arial"/>
                <a:ea typeface="Arial"/>
                <a:cs typeface="Arial"/>
              </a:rPr>
              <a:t>Supports where to search.</a:t>
            </a:r>
          </a:p>
          <a:p xmlns:a="http://schemas.openxmlformats.org/drawingml/2006/main">
            <a:pPr>
              <a:defRPr sz="1875" b="0">
                <a:solidFill>
                  <a:srgbClr val="58665F"/>
                </a:solidFill>
                <a:latin typeface="Arial"/>
                <a:ea typeface="Arial"/>
                <a:cs typeface="Arial"/>
              </a:defRPr>
            </a:pPr>
            <a:r>
              <a:rPr sz="1875" b="0">
                <a:solidFill>
                  <a:srgbClr val="58665F"/>
                </a:solidFill>
                <a:latin typeface="Arial"/>
                <a:ea typeface="Arial"/>
                <a:cs typeface="Arial"/>
              </a:rPr>
              <a:t>Future model performance remains untested.</a:t>
            </a:r>
          </a:p>
        </p:txBody>
      </p:sp>
    </p:spTree>
    <p:extLst>
      <p:ext uri="{BB962C8B-B14F-4D97-AF65-F5344CB8AC3E}">
        <p14:creationId xmlns:p14="http://schemas.microsoft.com/office/powerpoint/2010/main" val="1836571219"/>
      </p:ext>
    </p:extLst>
  </p:cSld>
  <p:transition spd="med" advClick="1">
    <p:fade/>
  </p:transition>
</p:sld>
</file>

<file path=ppt/slides/slide8.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4EB5304-726B-4E03-B8C4-4A0FA9833CB7}"/>
              </a:ext>
            </a:extLst>
          </p:cNvPr>
          <p:cNvSpPr>
            <a:spLocks xmlns:a="http://schemas.openxmlformats.org/drawingml/2006/main" noGrp="1"/>
          </p:cNvSpPr>
          <p:nvPr/>
        </p:nvSpPr>
        <p:spPr>
          <a:xfrm xmlns:a="http://schemas.openxmlformats.org/drawingml/2006/main">
            <a:off x="609600" y="3048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BD5A32"/>
                </a:solidFill>
                <a:latin typeface="Arial"/>
                <a:ea typeface="Arial"/>
                <a:cs typeface="Arial"/>
              </a:defRPr>
            </a:pPr>
            <a:r>
              <a:rPr sz="1200" b="1">
                <a:solidFill>
                  <a:srgbClr val="BD5A32"/>
                </a:solidFill>
                <a:latin typeface="Arial"/>
                <a:ea typeface="Arial"/>
                <a:cs typeface="Arial"/>
              </a:rPr>
              <a:t>BEFORE ANY LEASE</a:t>
            </a:r>
          </a:p>
        </p:txBody>
      </p:sp>
      <p:sp>
        <p:nvSpPr>
          <p:cNvPr id="2" name="">
            <a:extLst xmlns:a="http://schemas.openxmlformats.org/drawingml/2006/main">
              <a:ext uri="{FF2B5EF4-FFF2-40B4-BE49-F238E27FC236}">
                <a16:creationId xmlns:a16="http://schemas.microsoft.com/office/drawing/2014/main" id="{D5BADB69-5B5C-4028-8774-C91ADE7963C2}"/>
              </a:ext>
            </a:extLst>
          </p:cNvPr>
          <p:cNvSpPr>
            <a:spLocks xmlns:a="http://schemas.openxmlformats.org/drawingml/2006/main" noGrp="1"/>
          </p:cNvSpPr>
          <p:nvPr/>
        </p:nvSpPr>
        <p:spPr>
          <a:xfrm xmlns:a="http://schemas.openxmlformats.org/drawingml/2006/main">
            <a:off x="609600" y="742950"/>
            <a:ext cx="1095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63B36"/>
                </a:solidFill>
                <a:latin typeface="Georgia"/>
                <a:ea typeface="Georgia"/>
                <a:cs typeface="Georgia"/>
              </a:defRPr>
            </a:pPr>
            <a:r>
              <a:rPr sz="3150" b="1">
                <a:solidFill>
                  <a:srgbClr val="163B36"/>
                </a:solidFill>
                <a:latin typeface="Georgia"/>
                <a:ea typeface="Georgia"/>
                <a:cs typeface="Georgia"/>
              </a:rPr>
              <a:t>Two gates before any lease</a:t>
            </a:r>
          </a:p>
        </p:txBody>
      </p:sp>
      <p:sp>
        <p:nvSpPr>
          <p:cNvPr id="3" name="">
            <a:extLst xmlns:a="http://schemas.openxmlformats.org/drawingml/2006/main">
              <a:ext uri="{FF2B5EF4-FFF2-40B4-BE49-F238E27FC236}">
                <a16:creationId xmlns:a16="http://schemas.microsoft.com/office/drawing/2014/main" id="{B9A2CE6E-B909-4F24-BE12-D111BD211BA2}"/>
              </a:ext>
            </a:extLst>
          </p:cNvPr>
          <p:cNvSpPr>
            <a:spLocks xmlns:a="http://schemas.openxmlformats.org/drawingml/2006/main" noGrp="1"/>
          </p:cNvSpPr>
          <p:nvPr/>
        </p:nvSpPr>
        <p:spPr>
          <a:xfrm xmlns:a="http://schemas.openxmlformats.org/drawingml/2006/main">
            <a:off x="609600" y="64008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58665F"/>
                </a:solidFill>
                <a:latin typeface="Arial"/>
                <a:ea typeface="Arial"/>
                <a:cs typeface="Arial"/>
              </a:defRPr>
            </a:pPr>
            <a:r>
              <a:rPr sz="1050" b="0">
                <a:solidFill>
                  <a:srgbClr val="58665F"/>
                </a:solidFill>
                <a:latin typeface="Arial"/>
                <a:ea typeface="Arial"/>
                <a:cs typeface="Arial"/>
              </a:rPr>
              <a:t>Client decision framework. Check actual permissions and use explicit, conservative financial assumptions.</a:t>
            </a:r>
          </a:p>
        </p:txBody>
      </p:sp>
      <p:sp>
        <p:nvSpPr>
          <p:cNvPr id="4" name="">
            <a:extLst xmlns:a="http://schemas.openxmlformats.org/drawingml/2006/main">
              <a:ext uri="{FF2B5EF4-FFF2-40B4-BE49-F238E27FC236}">
                <a16:creationId xmlns:a16="http://schemas.microsoft.com/office/drawing/2014/main" id="{656871E7-83FA-4A28-8764-F1D29D6EF960}"/>
              </a:ext>
            </a:extLst>
          </p:cNvPr>
          <p:cNvSpPr>
            <a:spLocks xmlns:a="http://schemas.openxmlformats.org/drawingml/2006/main" noGrp="1"/>
          </p:cNvSpPr>
          <p:nvPr/>
        </p:nvSpPr>
        <p:spPr>
          <a:xfrm xmlns:a="http://schemas.openxmlformats.org/drawingml/2006/main">
            <a:off x="11439525" y="6400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65F"/>
                </a:solidFill>
                <a:latin typeface="Arial"/>
                <a:ea typeface="Arial"/>
                <a:cs typeface="Arial"/>
              </a:defRPr>
            </a:pPr>
            <a:r>
              <a:rPr sz="1125" b="0">
                <a:solidFill>
                  <a:srgbClr val="58665F"/>
                </a:solidFill>
                <a:latin typeface="Arial"/>
                <a:ea typeface="Arial"/>
                <a:cs typeface="Arial"/>
              </a:rPr>
              <a:t>8</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5981b94e58947ad"/>
          <a:stretch xmlns:a="http://schemas.openxmlformats.org/drawingml/2006/main"/>
        </p:blipFill>
        <p:spPr>
          <a:xfrm xmlns:a="http://schemas.openxmlformats.org/drawingml/2006/main">
            <a:off x="8053714" y="1590675"/>
            <a:ext cx="3514073" cy="43910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523AC4B-CECA-4941-9BAD-E4F039BE91BE}"/>
              </a:ext>
            </a:extLst>
          </p:cNvPr>
          <p:cNvSpPr>
            <a:spLocks xmlns:a="http://schemas.openxmlformats.org/drawingml/2006/main" noGrp="1"/>
          </p:cNvSpPr>
          <p:nvPr/>
        </p:nvSpPr>
        <p:spPr>
          <a:xfrm xmlns:a="http://schemas.openxmlformats.org/drawingml/2006/main">
            <a:off x="609600" y="1943100"/>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237E72"/>
                </a:solidFill>
                <a:latin typeface="Arial"/>
                <a:ea typeface="Arial"/>
                <a:cs typeface="Arial"/>
              </a:defRPr>
            </a:pPr>
            <a:r>
              <a:rPr sz="1650" b="1">
                <a:solidFill>
                  <a:srgbClr val="237E72"/>
                </a:solidFill>
                <a:latin typeface="Arial"/>
                <a:ea typeface="Arial"/>
                <a:cs typeface="Arial"/>
              </a:rPr>
              <a:t>01  PERMISSIONS</a:t>
            </a:r>
          </a:p>
        </p:txBody>
      </p:sp>
      <p:sp>
        <p:nvSpPr>
          <p:cNvPr id="7" name="">
            <a:extLst xmlns:a="http://schemas.openxmlformats.org/drawingml/2006/main">
              <a:ext uri="{FF2B5EF4-FFF2-40B4-BE49-F238E27FC236}">
                <a16:creationId xmlns:a16="http://schemas.microsoft.com/office/drawing/2014/main" id="{18D9B60C-2931-4EA6-91DB-701F2D30035B}"/>
              </a:ext>
            </a:extLst>
          </p:cNvPr>
          <p:cNvSpPr>
            <a:spLocks xmlns:a="http://schemas.openxmlformats.org/drawingml/2006/main" noGrp="1"/>
          </p:cNvSpPr>
          <p:nvPr/>
        </p:nvSpPr>
        <p:spPr>
          <a:xfrm xmlns:a="http://schemas.openxmlformats.org/drawingml/2006/main">
            <a:off x="609600" y="2466975"/>
            <a:ext cx="69437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63B36"/>
                </a:solidFill>
                <a:latin typeface="Arial"/>
                <a:ea typeface="Arial"/>
                <a:cs typeface="Arial"/>
              </a:defRPr>
            </a:pPr>
            <a:r>
              <a:rPr sz="2250" b="0">
                <a:solidFill>
                  <a:srgbClr val="163B36"/>
                </a:solidFill>
                <a:latin typeface="Arial"/>
                <a:ea typeface="Arial"/>
                <a:cs typeface="Arial"/>
              </a:rPr>
              <a:t>Confirm landlord consent and applicable</a:t>
            </a:r>
          </a:p>
          <a:p xmlns:a="http://schemas.openxmlformats.org/drawingml/2006/main">
            <a:pPr>
              <a:defRPr sz="2250" b="0">
                <a:solidFill>
                  <a:srgbClr val="163B36"/>
                </a:solidFill>
                <a:latin typeface="Arial"/>
                <a:ea typeface="Arial"/>
                <a:cs typeface="Arial"/>
              </a:defRPr>
            </a:pPr>
            <a:r>
              <a:rPr sz="2250" b="0">
                <a:solidFill>
                  <a:srgbClr val="163B36"/>
                </a:solidFill>
                <a:latin typeface="Arial"/>
                <a:ea typeface="Arial"/>
                <a:cs typeface="Arial"/>
              </a:rPr>
              <a:t>building and local requirements.</a:t>
            </a:r>
          </a:p>
        </p:txBody>
      </p:sp>
      <p:sp>
        <p:nvSpPr>
          <p:cNvPr id="8" name="">
            <a:extLst xmlns:a="http://schemas.openxmlformats.org/drawingml/2006/main">
              <a:ext uri="{FF2B5EF4-FFF2-40B4-BE49-F238E27FC236}">
                <a16:creationId xmlns:a16="http://schemas.microsoft.com/office/drawing/2014/main" id="{44B3BF87-E7DA-465B-A850-606152764E76}"/>
              </a:ext>
            </a:extLst>
          </p:cNvPr>
          <p:cNvSpPr>
            <a:spLocks xmlns:a="http://schemas.openxmlformats.org/drawingml/2006/main" noGrp="1"/>
          </p:cNvSpPr>
          <p:nvPr/>
        </p:nvSpPr>
        <p:spPr>
          <a:xfrm xmlns:a="http://schemas.openxmlformats.org/drawingml/2006/main">
            <a:off x="609600" y="3667125"/>
            <a:ext cx="7029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237E72"/>
                </a:solidFill>
                <a:latin typeface="Arial"/>
                <a:ea typeface="Arial"/>
                <a:cs typeface="Arial"/>
              </a:defRPr>
            </a:pPr>
            <a:r>
              <a:rPr sz="1650" b="1">
                <a:solidFill>
                  <a:srgbClr val="237E72"/>
                </a:solidFill>
                <a:latin typeface="Arial"/>
                <a:ea typeface="Arial"/>
                <a:cs typeface="Arial"/>
              </a:rPr>
              <a:t>02  CONSERVATIVE CASH FLOW</a:t>
            </a:r>
          </a:p>
        </p:txBody>
      </p:sp>
      <p:sp>
        <p:nvSpPr>
          <p:cNvPr id="9" name="">
            <a:extLst xmlns:a="http://schemas.openxmlformats.org/drawingml/2006/main">
              <a:ext uri="{FF2B5EF4-FFF2-40B4-BE49-F238E27FC236}">
                <a16:creationId xmlns:a16="http://schemas.microsoft.com/office/drawing/2014/main" id="{18AFB609-FD10-4A61-B9D0-C88F35D28F60}"/>
              </a:ext>
            </a:extLst>
          </p:cNvPr>
          <p:cNvSpPr>
            <a:spLocks xmlns:a="http://schemas.openxmlformats.org/drawingml/2006/main" noGrp="1"/>
          </p:cNvSpPr>
          <p:nvPr/>
        </p:nvSpPr>
        <p:spPr>
          <a:xfrm xmlns:a="http://schemas.openxmlformats.org/drawingml/2006/main">
            <a:off x="609600" y="4191000"/>
            <a:ext cx="69723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63B36"/>
                </a:solidFill>
                <a:latin typeface="Arial"/>
                <a:ea typeface="Arial"/>
                <a:cs typeface="Arial"/>
              </a:defRPr>
            </a:pPr>
            <a:r>
              <a:rPr sz="2100" b="0">
                <a:solidFill>
                  <a:srgbClr val="163B36"/>
                </a:solidFill>
                <a:latin typeface="Arial"/>
                <a:ea typeface="Arial"/>
                <a:cs typeface="Arial"/>
              </a:rPr>
              <a:t>Use real quotes and cautious income assumptions.</a:t>
            </a:r>
          </a:p>
          <a:p xmlns:a="http://schemas.openxmlformats.org/drawingml/2006/main">
            <a:pPr>
              <a:defRPr sz="2100" b="0">
                <a:solidFill>
                  <a:srgbClr val="163B36"/>
                </a:solidFill>
                <a:latin typeface="Arial"/>
                <a:ea typeface="Arial"/>
                <a:cs typeface="Arial"/>
              </a:defRPr>
            </a:pPr>
            <a:r>
              <a:rPr sz="2100" b="0">
                <a:solidFill>
                  <a:srgbClr val="163B36"/>
                </a:solidFill>
                <a:latin typeface="Arial"/>
                <a:ea typeface="Arial"/>
                <a:cs typeface="Arial"/>
              </a:rPr>
              <a:t>Cover rent, operating costs, setup allowance</a:t>
            </a:r>
          </a:p>
          <a:p xmlns:a="http://schemas.openxmlformats.org/drawingml/2006/main">
            <a:pPr>
              <a:defRPr sz="2100" b="0">
                <a:solidFill>
                  <a:srgbClr val="163B36"/>
                </a:solidFill>
                <a:latin typeface="Arial"/>
                <a:ea typeface="Arial"/>
                <a:cs typeface="Arial"/>
              </a:defRPr>
            </a:pPr>
            <a:r>
              <a:rPr sz="2100" b="0">
                <a:solidFill>
                  <a:srgbClr val="163B36"/>
                </a:solidFill>
                <a:latin typeface="Arial"/>
                <a:ea typeface="Arial"/>
                <a:cs typeface="Arial"/>
              </a:rPr>
              <a:t>and a buffer agreed with the client.</a:t>
            </a:r>
          </a:p>
        </p:txBody>
      </p:sp>
      <p:sp>
        <p:nvSpPr>
          <p:cNvPr id="10" name="">
            <a:extLst xmlns:a="http://schemas.openxmlformats.org/drawingml/2006/main">
              <a:ext uri="{FF2B5EF4-FFF2-40B4-BE49-F238E27FC236}">
                <a16:creationId xmlns:a16="http://schemas.microsoft.com/office/drawing/2014/main" id="{0D26A728-B22A-4E50-9204-761592028524}"/>
              </a:ext>
            </a:extLst>
          </p:cNvPr>
          <p:cNvSpPr>
            <a:spLocks xmlns:a="http://schemas.openxmlformats.org/drawingml/2006/main" noGrp="1"/>
          </p:cNvSpPr>
          <p:nvPr/>
        </p:nvSpPr>
        <p:spPr>
          <a:xfrm xmlns:a="http://schemas.openxmlformats.org/drawingml/2006/main">
            <a:off x="609600" y="5800725"/>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BD5A32"/>
                </a:solidFill>
                <a:latin typeface="Arial"/>
                <a:ea typeface="Arial"/>
                <a:cs typeface="Arial"/>
              </a:defRPr>
            </a:pPr>
            <a:r>
              <a:rPr sz="2400" b="1">
                <a:solidFill>
                  <a:srgbClr val="BD5A32"/>
                </a:solidFill>
                <a:latin typeface="Arial"/>
                <a:ea typeface="Arial"/>
                <a:cs typeface="Arial"/>
              </a:rPr>
              <a:t>Reject a candidate that fails either gate.</a:t>
            </a:r>
          </a:p>
        </p:txBody>
      </p:sp>
      <p:sp>
        <p:nvSpPr>
          <p:cNvPr id="11" name="">
            <a:extLst xmlns:a="http://schemas.openxmlformats.org/drawingml/2006/main">
              <a:ext uri="{FF2B5EF4-FFF2-40B4-BE49-F238E27FC236}">
                <a16:creationId xmlns:a16="http://schemas.microsoft.com/office/drawing/2014/main" id="{BD4AEF16-98CC-494C-8A98-CEB2F44228EE}"/>
              </a:ext>
            </a:extLst>
          </p:cNvPr>
          <p:cNvSpPr>
            <a:spLocks xmlns:a="http://schemas.openxmlformats.org/drawingml/2006/main" noGrp="1"/>
          </p:cNvSpPr>
          <p:nvPr/>
        </p:nvSpPr>
        <p:spPr>
          <a:xfrm xmlns:a="http://schemas.openxmlformats.org/drawingml/2006/main">
            <a:off x="10096500" y="60674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75" b="0">
                <a:solidFill>
                  <a:srgbClr val="58665F"/>
                </a:solidFill>
                <a:latin typeface="Arial"/>
                <a:ea typeface="Arial"/>
                <a:cs typeface="Arial"/>
              </a:defRPr>
            </a:pPr>
            <a:r>
              <a:rPr sz="975" b="0">
                <a:solidFill>
                  <a:srgbClr val="58665F"/>
                </a:solidFill>
                <a:latin typeface="Arial"/>
                <a:ea typeface="Arial"/>
                <a:cs typeface="Arial"/>
              </a:rPr>
              <a:t>Illustrative render</a:t>
            </a:r>
          </a:p>
        </p:txBody>
      </p:sp>
    </p:spTree>
    <p:extLst>
      <p:ext uri="{BB962C8B-B14F-4D97-AF65-F5344CB8AC3E}">
        <p14:creationId xmlns:p14="http://schemas.microsoft.com/office/powerpoint/2010/main" val="325971331"/>
      </p:ext>
    </p:extLst>
  </p:cSld>
  <p:transition spd="med" advClick="1">
    <p:fade/>
  </p:transition>
</p:sld>
</file>

<file path=ppt/slides/slide9.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401F41D-3256-41AE-A154-E36BA82340C6}"/>
              </a:ext>
            </a:extLst>
          </p:cNvPr>
          <p:cNvSpPr>
            <a:spLocks xmlns:a="http://schemas.openxmlformats.org/drawingml/2006/main" noGrp="1"/>
          </p:cNvSpPr>
          <p:nvPr/>
        </p:nvSpPr>
        <p:spPr>
          <a:xfrm xmlns:a="http://schemas.openxmlformats.org/drawingml/2006/main">
            <a:off x="609600" y="30480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BD5A32"/>
                </a:solidFill>
                <a:latin typeface="Arial"/>
                <a:ea typeface="Arial"/>
                <a:cs typeface="Arial"/>
              </a:defRPr>
            </a:pPr>
            <a:r>
              <a:rPr sz="1200" b="1">
                <a:solidFill>
                  <a:srgbClr val="BD5A32"/>
                </a:solidFill>
                <a:latin typeface="Arial"/>
                <a:ea typeface="Arial"/>
                <a:cs typeface="Arial"/>
              </a:rPr>
              <a:t>RECOMMENDATIONS</a:t>
            </a:r>
          </a:p>
        </p:txBody>
      </p:sp>
      <p:sp>
        <p:nvSpPr>
          <p:cNvPr id="2" name="">
            <a:extLst xmlns:a="http://schemas.openxmlformats.org/drawingml/2006/main">
              <a:ext uri="{FF2B5EF4-FFF2-40B4-BE49-F238E27FC236}">
                <a16:creationId xmlns:a16="http://schemas.microsoft.com/office/drawing/2014/main" id="{747970E8-B516-4B36-83AB-ADE187D896C8}"/>
              </a:ext>
            </a:extLst>
          </p:cNvPr>
          <p:cNvSpPr>
            <a:spLocks xmlns:a="http://schemas.openxmlformats.org/drawingml/2006/main" noGrp="1"/>
          </p:cNvSpPr>
          <p:nvPr/>
        </p:nvSpPr>
        <p:spPr>
          <a:xfrm xmlns:a="http://schemas.openxmlformats.org/drawingml/2006/main">
            <a:off x="609600" y="742950"/>
            <a:ext cx="1095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163B36"/>
                </a:solidFill>
                <a:latin typeface="Georgia"/>
                <a:ea typeface="Georgia"/>
                <a:cs typeface="Georgia"/>
              </a:defRPr>
            </a:pPr>
            <a:r>
              <a:rPr sz="3150" b="1">
                <a:solidFill>
                  <a:srgbClr val="163B36"/>
                </a:solidFill>
                <a:latin typeface="Georgia"/>
                <a:ea typeface="Georgia"/>
                <a:cs typeface="Georgia"/>
              </a:rPr>
              <a:t>A 30-day search with clear stop rules</a:t>
            </a:r>
          </a:p>
        </p:txBody>
      </p:sp>
      <p:sp>
        <p:nvSpPr>
          <p:cNvPr id="3" name="">
            <a:extLst xmlns:a="http://schemas.openxmlformats.org/drawingml/2006/main">
              <a:ext uri="{FF2B5EF4-FFF2-40B4-BE49-F238E27FC236}">
                <a16:creationId xmlns:a16="http://schemas.microsoft.com/office/drawing/2014/main" id="{854BFD0E-4268-4928-B484-BBEAEAD624C2}"/>
              </a:ext>
            </a:extLst>
          </p:cNvPr>
          <p:cNvSpPr>
            <a:spLocks xmlns:a="http://schemas.openxmlformats.org/drawingml/2006/main" noGrp="1"/>
          </p:cNvSpPr>
          <p:nvPr/>
        </p:nvSpPr>
        <p:spPr>
          <a:xfrm xmlns:a="http://schemas.openxmlformats.org/drawingml/2006/main">
            <a:off x="609600" y="64008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58665F"/>
                </a:solidFill>
                <a:latin typeface="Arial"/>
                <a:ea typeface="Arial"/>
                <a:cs typeface="Arial"/>
              </a:defRPr>
            </a:pPr>
            <a:r>
              <a:rPr sz="1050" b="0">
                <a:solidFill>
                  <a:srgbClr val="58665F"/>
                </a:solidFill>
                <a:latin typeface="Arial"/>
                <a:ea typeface="Arial"/>
                <a:cs typeface="Arial"/>
              </a:rPr>
              <a:t>Proposed workflow. Thirty days and ten candidates are planning choices, not model-derived optima.</a:t>
            </a:r>
          </a:p>
        </p:txBody>
      </p:sp>
      <p:sp>
        <p:nvSpPr>
          <p:cNvPr id="4" name="">
            <a:extLst xmlns:a="http://schemas.openxmlformats.org/drawingml/2006/main">
              <a:ext uri="{FF2B5EF4-FFF2-40B4-BE49-F238E27FC236}">
                <a16:creationId xmlns:a16="http://schemas.microsoft.com/office/drawing/2014/main" id="{1111DDAA-3034-4509-AB30-CD30306EB6EF}"/>
              </a:ext>
            </a:extLst>
          </p:cNvPr>
          <p:cNvSpPr>
            <a:spLocks xmlns:a="http://schemas.openxmlformats.org/drawingml/2006/main" noGrp="1"/>
          </p:cNvSpPr>
          <p:nvPr/>
        </p:nvSpPr>
        <p:spPr>
          <a:xfrm xmlns:a="http://schemas.openxmlformats.org/drawingml/2006/main">
            <a:off x="11439525" y="6400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65F"/>
                </a:solidFill>
                <a:latin typeface="Arial"/>
                <a:ea typeface="Arial"/>
                <a:cs typeface="Arial"/>
              </a:defRPr>
            </a:pPr>
            <a:r>
              <a:rPr sz="1125" b="0">
                <a:solidFill>
                  <a:srgbClr val="58665F"/>
                </a:solidFill>
                <a:latin typeface="Arial"/>
                <a:ea typeface="Arial"/>
                <a:cs typeface="Arial"/>
              </a:rPr>
              <a:t>9</a:t>
            </a:r>
          </a:p>
        </p:txBody>
      </p:sp>
      <p:sp>
        <p:nvSpPr>
          <p:cNvPr id="5" name="">
            <a:extLst xmlns:a="http://schemas.openxmlformats.org/drawingml/2006/main">
              <a:ext uri="{FF2B5EF4-FFF2-40B4-BE49-F238E27FC236}">
                <a16:creationId xmlns:a16="http://schemas.microsoft.com/office/drawing/2014/main" id="{DFAA081E-46F8-404E-9ADC-BCB6E2F3B2A0}"/>
              </a:ext>
            </a:extLst>
          </p:cNvPr>
          <p:cNvSpPr>
            <a:spLocks xmlns:a="http://schemas.openxmlformats.org/drawingml/2006/main" noGrp="1"/>
          </p:cNvSpPr>
          <p:nvPr/>
        </p:nvSpPr>
        <p:spPr>
          <a:xfrm xmlns:a="http://schemas.openxmlformats.org/drawingml/2006/main">
            <a:off x="609600" y="2076450"/>
            <a:ext cx="3267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237E72"/>
                </a:solidFill>
                <a:latin typeface="Arial"/>
                <a:ea typeface="Arial"/>
                <a:cs typeface="Arial"/>
              </a:defRPr>
            </a:pPr>
            <a:r>
              <a:rPr sz="2400" b="1">
                <a:solidFill>
                  <a:srgbClr val="237E72"/>
                </a:solidFill>
                <a:latin typeface="Arial"/>
                <a:ea typeface="Arial"/>
                <a:cs typeface="Arial"/>
              </a:rPr>
              <a:t>WEEK 1</a:t>
            </a:r>
          </a:p>
        </p:txBody>
      </p:sp>
      <p:sp>
        <p:nvSpPr>
          <p:cNvPr id="6" name="">
            <a:extLst xmlns:a="http://schemas.openxmlformats.org/drawingml/2006/main">
              <a:ext uri="{FF2B5EF4-FFF2-40B4-BE49-F238E27FC236}">
                <a16:creationId xmlns:a16="http://schemas.microsoft.com/office/drawing/2014/main" id="{2E61AACB-8BA6-492C-AD39-2E1958DD9488}"/>
              </a:ext>
            </a:extLst>
          </p:cNvPr>
          <p:cNvSpPr>
            <a:spLocks xmlns:a="http://schemas.openxmlformats.org/drawingml/2006/main" noGrp="1"/>
          </p:cNvSpPr>
          <p:nvPr/>
        </p:nvSpPr>
        <p:spPr>
          <a:xfrm xmlns:a="http://schemas.openxmlformats.org/drawingml/2006/main">
            <a:off x="609600" y="2705100"/>
            <a:ext cx="3267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8665F"/>
                </a:solidFill>
                <a:latin typeface="Arial"/>
                <a:ea typeface="Arial"/>
                <a:cs typeface="Arial"/>
              </a:defRPr>
            </a:pPr>
            <a:r>
              <a:rPr sz="1650" b="0">
                <a:solidFill>
                  <a:srgbClr val="58665F"/>
                </a:solidFill>
                <a:latin typeface="Arial"/>
                <a:ea typeface="Arial"/>
                <a:cs typeface="Arial"/>
              </a:rPr>
              <a:t>Property scout</a:t>
            </a:r>
          </a:p>
        </p:txBody>
      </p:sp>
      <p:sp>
        <p:nvSpPr>
          <p:cNvPr id="7" name="">
            <a:extLst xmlns:a="http://schemas.openxmlformats.org/drawingml/2006/main">
              <a:ext uri="{FF2B5EF4-FFF2-40B4-BE49-F238E27FC236}">
                <a16:creationId xmlns:a16="http://schemas.microsoft.com/office/drawing/2014/main" id="{4947991B-47A3-432D-B201-006F1B24BFDF}"/>
              </a:ext>
            </a:extLst>
          </p:cNvPr>
          <p:cNvSpPr>
            <a:spLocks xmlns:a="http://schemas.openxmlformats.org/drawingml/2006/main" noGrp="1"/>
          </p:cNvSpPr>
          <p:nvPr/>
        </p:nvSpPr>
        <p:spPr>
          <a:xfrm xmlns:a="http://schemas.openxmlformats.org/drawingml/2006/main">
            <a:off x="609600" y="3543300"/>
            <a:ext cx="32670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63B36"/>
                </a:solidFill>
                <a:latin typeface="Arial"/>
                <a:ea typeface="Arial"/>
                <a:cs typeface="Arial"/>
              </a:defRPr>
            </a:pPr>
            <a:r>
              <a:rPr sz="2100" b="1">
                <a:solidFill>
                  <a:srgbClr val="163B36"/>
                </a:solidFill>
                <a:latin typeface="Arial"/>
                <a:ea typeface="Arial"/>
                <a:cs typeface="Arial"/>
              </a:rPr>
              <a:t>Find 10 candidates.</a:t>
            </a:r>
          </a:p>
          <a:p xmlns:a="http://schemas.openxmlformats.org/drawingml/2006/main">
            <a:pPr>
              <a:defRPr sz="2100" b="1">
                <a:solidFill>
                  <a:srgbClr val="163B36"/>
                </a:solidFill>
                <a:latin typeface="Arial"/>
                <a:ea typeface="Arial"/>
                <a:cs typeface="Arial"/>
              </a:defRPr>
            </a:pPr>
            <a:r>
              <a:rPr sz="2100" b="1">
                <a:solidFill>
                  <a:srgbClr val="163B36"/>
                </a:solidFill>
                <a:latin typeface="Arial"/>
                <a:ea typeface="Arial"/>
                <a:cs typeface="Arial"/>
              </a:rPr>
              <a:t>Start with city apartments.</a:t>
            </a:r>
          </a:p>
        </p:txBody>
      </p:sp>
      <p:sp>
        <p:nvSpPr>
          <p:cNvPr id="8" name="">
            <a:extLst xmlns:a="http://schemas.openxmlformats.org/drawingml/2006/main">
              <a:ext uri="{FF2B5EF4-FFF2-40B4-BE49-F238E27FC236}">
                <a16:creationId xmlns:a16="http://schemas.microsoft.com/office/drawing/2014/main" id="{87E049C1-95CD-4CAC-9252-93EFFEC13149}"/>
              </a:ext>
            </a:extLst>
          </p:cNvPr>
          <p:cNvSpPr>
            <a:spLocks xmlns:a="http://schemas.openxmlformats.org/drawingml/2006/main" noGrp="1"/>
          </p:cNvSpPr>
          <p:nvPr/>
        </p:nvSpPr>
        <p:spPr>
          <a:xfrm xmlns:a="http://schemas.openxmlformats.org/drawingml/2006/main">
            <a:off x="609600" y="4943475"/>
            <a:ext cx="32670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BD5A32"/>
                </a:solidFill>
                <a:latin typeface="Arial"/>
                <a:ea typeface="Arial"/>
                <a:cs typeface="Arial"/>
              </a:defRPr>
            </a:pPr>
            <a:r>
              <a:rPr sz="1950" b="0">
                <a:solidFill>
                  <a:srgbClr val="BD5A32"/>
                </a:solidFill>
                <a:latin typeface="Arial"/>
                <a:ea typeface="Arial"/>
                <a:cs typeface="Arial"/>
              </a:rPr>
              <a:t>Keep Yarra Ranges</a:t>
            </a:r>
          </a:p>
          <a:p xmlns:a="http://schemas.openxmlformats.org/drawingml/2006/main">
            <a:pPr>
              <a:defRPr sz="1950" b="0">
                <a:solidFill>
                  <a:srgbClr val="BD5A32"/>
                </a:solidFill>
                <a:latin typeface="Arial"/>
                <a:ea typeface="Arial"/>
                <a:cs typeface="Arial"/>
              </a:defRPr>
            </a:pPr>
            <a:r>
              <a:rPr sz="1950" b="0">
                <a:solidFill>
                  <a:srgbClr val="BD5A32"/>
                </a:solidFill>
                <a:latin typeface="Arial"/>
                <a:ea typeface="Arial"/>
                <a:cs typeface="Arial"/>
              </a:rPr>
              <a:t>as a backup.</a:t>
            </a:r>
          </a:p>
        </p:txBody>
      </p:sp>
      <p:sp>
        <p:nvSpPr>
          <p:cNvPr id="9" name="">
            <a:extLst xmlns:a="http://schemas.openxmlformats.org/drawingml/2006/main">
              <a:ext uri="{FF2B5EF4-FFF2-40B4-BE49-F238E27FC236}">
                <a16:creationId xmlns:a16="http://schemas.microsoft.com/office/drawing/2014/main" id="{7DF3DD9E-D842-4AAB-A9C9-616A4F93AC0F}"/>
              </a:ext>
            </a:extLst>
          </p:cNvPr>
          <p:cNvSpPr>
            <a:spLocks xmlns:a="http://schemas.openxmlformats.org/drawingml/2006/main" noGrp="1"/>
          </p:cNvSpPr>
          <p:nvPr/>
        </p:nvSpPr>
        <p:spPr>
          <a:xfrm xmlns:a="http://schemas.openxmlformats.org/drawingml/2006/main">
            <a:off x="4457700" y="2076450"/>
            <a:ext cx="3267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237E72"/>
                </a:solidFill>
                <a:latin typeface="Arial"/>
                <a:ea typeface="Arial"/>
                <a:cs typeface="Arial"/>
              </a:defRPr>
            </a:pPr>
            <a:r>
              <a:rPr sz="2400" b="1">
                <a:solidFill>
                  <a:srgbClr val="237E72"/>
                </a:solidFill>
                <a:latin typeface="Arial"/>
                <a:ea typeface="Arial"/>
                <a:cs typeface="Arial"/>
              </a:rPr>
              <a:t>WEEKS 2–3</a:t>
            </a:r>
          </a:p>
        </p:txBody>
      </p:sp>
      <p:sp>
        <p:nvSpPr>
          <p:cNvPr id="10" name="">
            <a:extLst xmlns:a="http://schemas.openxmlformats.org/drawingml/2006/main">
              <a:ext uri="{FF2B5EF4-FFF2-40B4-BE49-F238E27FC236}">
                <a16:creationId xmlns:a16="http://schemas.microsoft.com/office/drawing/2014/main" id="{B388DF05-5BFB-43F4-A1A2-AFB38696E376}"/>
              </a:ext>
            </a:extLst>
          </p:cNvPr>
          <p:cNvSpPr>
            <a:spLocks xmlns:a="http://schemas.openxmlformats.org/drawingml/2006/main" noGrp="1"/>
          </p:cNvSpPr>
          <p:nvPr/>
        </p:nvSpPr>
        <p:spPr>
          <a:xfrm xmlns:a="http://schemas.openxmlformats.org/drawingml/2006/main">
            <a:off x="4457700" y="2705100"/>
            <a:ext cx="3267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8665F"/>
                </a:solidFill>
                <a:latin typeface="Arial"/>
                <a:ea typeface="Arial"/>
                <a:cs typeface="Arial"/>
              </a:defRPr>
            </a:pPr>
            <a:r>
              <a:rPr sz="1650" b="0">
                <a:solidFill>
                  <a:srgbClr val="58665F"/>
                </a:solidFill>
                <a:latin typeface="Arial"/>
                <a:ea typeface="Arial"/>
                <a:cs typeface="Arial"/>
              </a:rPr>
              <a:t>Operator and analyst</a:t>
            </a:r>
          </a:p>
        </p:txBody>
      </p:sp>
      <p:sp>
        <p:nvSpPr>
          <p:cNvPr id="11" name="">
            <a:extLst xmlns:a="http://schemas.openxmlformats.org/drawingml/2006/main">
              <a:ext uri="{FF2B5EF4-FFF2-40B4-BE49-F238E27FC236}">
                <a16:creationId xmlns:a16="http://schemas.microsoft.com/office/drawing/2014/main" id="{6210FD2C-DC34-4CEE-9F89-F7C8B7A009FC}"/>
              </a:ext>
            </a:extLst>
          </p:cNvPr>
          <p:cNvSpPr>
            <a:spLocks xmlns:a="http://schemas.openxmlformats.org/drawingml/2006/main" noGrp="1"/>
          </p:cNvSpPr>
          <p:nvPr/>
        </p:nvSpPr>
        <p:spPr>
          <a:xfrm xmlns:a="http://schemas.openxmlformats.org/drawingml/2006/main">
            <a:off x="4457700" y="3543300"/>
            <a:ext cx="32670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63B36"/>
                </a:solidFill>
                <a:latin typeface="Arial"/>
                <a:ea typeface="Arial"/>
                <a:cs typeface="Arial"/>
              </a:defRPr>
            </a:pPr>
            <a:r>
              <a:rPr sz="2100" b="1">
                <a:solidFill>
                  <a:srgbClr val="163B36"/>
                </a:solidFill>
                <a:latin typeface="Arial"/>
                <a:ea typeface="Arial"/>
                <a:cs typeface="Arial"/>
              </a:rPr>
              <a:t>Verify permissions,</a:t>
            </a:r>
          </a:p>
          <a:p xmlns:a="http://schemas.openxmlformats.org/drawingml/2006/main">
            <a:pPr>
              <a:defRPr sz="2100" b="1">
                <a:solidFill>
                  <a:srgbClr val="163B36"/>
                </a:solidFill>
                <a:latin typeface="Arial"/>
                <a:ea typeface="Arial"/>
                <a:cs typeface="Arial"/>
              </a:defRPr>
            </a:pPr>
            <a:r>
              <a:rPr sz="2100" b="1">
                <a:solidFill>
                  <a:srgbClr val="163B36"/>
                </a:solidFill>
                <a:latin typeface="Arial"/>
                <a:ea typeface="Arial"/>
                <a:cs typeface="Arial"/>
              </a:rPr>
              <a:t>quotes and cash flow.</a:t>
            </a:r>
          </a:p>
        </p:txBody>
      </p:sp>
      <p:sp>
        <p:nvSpPr>
          <p:cNvPr id="12" name="">
            <a:extLst xmlns:a="http://schemas.openxmlformats.org/drawingml/2006/main">
              <a:ext uri="{FF2B5EF4-FFF2-40B4-BE49-F238E27FC236}">
                <a16:creationId xmlns:a16="http://schemas.microsoft.com/office/drawing/2014/main" id="{46B5265D-EFA6-48A0-8AFC-D0F552A2C041}"/>
              </a:ext>
            </a:extLst>
          </p:cNvPr>
          <p:cNvSpPr>
            <a:spLocks xmlns:a="http://schemas.openxmlformats.org/drawingml/2006/main" noGrp="1"/>
          </p:cNvSpPr>
          <p:nvPr/>
        </p:nvSpPr>
        <p:spPr>
          <a:xfrm xmlns:a="http://schemas.openxmlformats.org/drawingml/2006/main">
            <a:off x="4457700" y="4943475"/>
            <a:ext cx="32670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BD5A32"/>
                </a:solidFill>
                <a:latin typeface="Arial"/>
                <a:ea typeface="Arial"/>
                <a:cs typeface="Arial"/>
              </a:defRPr>
            </a:pPr>
            <a:r>
              <a:rPr sz="1950" b="0">
                <a:solidFill>
                  <a:srgbClr val="BD5A32"/>
                </a:solidFill>
                <a:latin typeface="Arial"/>
                <a:ea typeface="Arial"/>
                <a:cs typeface="Arial"/>
              </a:rPr>
              <a:t>Reject a home if</a:t>
            </a:r>
          </a:p>
          <a:p xmlns:a="http://schemas.openxmlformats.org/drawingml/2006/main">
            <a:pPr>
              <a:defRPr sz="1950" b="0">
                <a:solidFill>
                  <a:srgbClr val="BD5A32"/>
                </a:solidFill>
                <a:latin typeface="Arial"/>
                <a:ea typeface="Arial"/>
                <a:cs typeface="Arial"/>
              </a:defRPr>
            </a:pPr>
            <a:r>
              <a:rPr sz="1950" b="0">
                <a:solidFill>
                  <a:srgbClr val="BD5A32"/>
                </a:solidFill>
                <a:latin typeface="Arial"/>
                <a:ea typeface="Arial"/>
                <a:cs typeface="Arial"/>
              </a:rPr>
              <a:t>either gate fails.</a:t>
            </a:r>
          </a:p>
        </p:txBody>
      </p:sp>
      <p:sp>
        <p:nvSpPr>
          <p:cNvPr id="13" name="">
            <a:extLst xmlns:a="http://schemas.openxmlformats.org/drawingml/2006/main">
              <a:ext uri="{FF2B5EF4-FFF2-40B4-BE49-F238E27FC236}">
                <a16:creationId xmlns:a16="http://schemas.microsoft.com/office/drawing/2014/main" id="{11EB346A-5169-40E8-86AF-41E2C954A3D9}"/>
              </a:ext>
            </a:extLst>
          </p:cNvPr>
          <p:cNvSpPr>
            <a:spLocks xmlns:a="http://schemas.openxmlformats.org/drawingml/2006/main" noGrp="1"/>
          </p:cNvSpPr>
          <p:nvPr/>
        </p:nvSpPr>
        <p:spPr>
          <a:xfrm xmlns:a="http://schemas.openxmlformats.org/drawingml/2006/main">
            <a:off x="8296275" y="2076450"/>
            <a:ext cx="3267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237E72"/>
                </a:solidFill>
                <a:latin typeface="Arial"/>
                <a:ea typeface="Arial"/>
                <a:cs typeface="Arial"/>
              </a:defRPr>
            </a:pPr>
            <a:r>
              <a:rPr sz="2400" b="1">
                <a:solidFill>
                  <a:srgbClr val="237E72"/>
                </a:solidFill>
                <a:latin typeface="Arial"/>
                <a:ea typeface="Arial"/>
                <a:cs typeface="Arial"/>
              </a:rPr>
              <a:t>WEEK 4</a:t>
            </a:r>
          </a:p>
        </p:txBody>
      </p:sp>
      <p:sp>
        <p:nvSpPr>
          <p:cNvPr id="14" name="">
            <a:extLst xmlns:a="http://schemas.openxmlformats.org/drawingml/2006/main">
              <a:ext uri="{FF2B5EF4-FFF2-40B4-BE49-F238E27FC236}">
                <a16:creationId xmlns:a16="http://schemas.microsoft.com/office/drawing/2014/main" id="{AB064398-4B23-4438-AE1C-D186DDB946CC}"/>
              </a:ext>
            </a:extLst>
          </p:cNvPr>
          <p:cNvSpPr>
            <a:spLocks xmlns:a="http://schemas.openxmlformats.org/drawingml/2006/main" noGrp="1"/>
          </p:cNvSpPr>
          <p:nvPr/>
        </p:nvSpPr>
        <p:spPr>
          <a:xfrm xmlns:a="http://schemas.openxmlformats.org/drawingml/2006/main">
            <a:off x="8296275" y="2705100"/>
            <a:ext cx="3267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8665F"/>
                </a:solidFill>
                <a:latin typeface="Arial"/>
                <a:ea typeface="Arial"/>
                <a:cs typeface="Arial"/>
              </a:defRPr>
            </a:pPr>
            <a:r>
              <a:rPr sz="1650" b="0">
                <a:solidFill>
                  <a:srgbClr val="58665F"/>
                </a:solidFill>
                <a:latin typeface="Arial"/>
                <a:ea typeface="Arial"/>
                <a:cs typeface="Arial"/>
              </a:rPr>
              <a:t>Business owner</a:t>
            </a:r>
          </a:p>
        </p:txBody>
      </p:sp>
      <p:sp>
        <p:nvSpPr>
          <p:cNvPr id="15" name="">
            <a:extLst xmlns:a="http://schemas.openxmlformats.org/drawingml/2006/main">
              <a:ext uri="{FF2B5EF4-FFF2-40B4-BE49-F238E27FC236}">
                <a16:creationId xmlns:a16="http://schemas.microsoft.com/office/drawing/2014/main" id="{2C8DB3D8-C10A-44E2-AEBF-C8122EE03040}"/>
              </a:ext>
            </a:extLst>
          </p:cNvPr>
          <p:cNvSpPr>
            <a:spLocks xmlns:a="http://schemas.openxmlformats.org/drawingml/2006/main" noGrp="1"/>
          </p:cNvSpPr>
          <p:nvPr/>
        </p:nvSpPr>
        <p:spPr>
          <a:xfrm xmlns:a="http://schemas.openxmlformats.org/drawingml/2006/main">
            <a:off x="8296275" y="3543300"/>
            <a:ext cx="32670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63B36"/>
                </a:solidFill>
                <a:latin typeface="Arial"/>
                <a:ea typeface="Arial"/>
                <a:cs typeface="Arial"/>
              </a:defRPr>
            </a:pPr>
            <a:r>
              <a:rPr sz="2100" b="1">
                <a:solidFill>
                  <a:srgbClr val="163B36"/>
                </a:solidFill>
                <a:latin typeface="Arial"/>
                <a:ea typeface="Arial"/>
                <a:cs typeface="Arial"/>
              </a:rPr>
              <a:t>Compare the survivors.</a:t>
            </a:r>
          </a:p>
          <a:p xmlns:a="http://schemas.openxmlformats.org/drawingml/2006/main">
            <a:pPr>
              <a:defRPr sz="2100" b="1">
                <a:solidFill>
                  <a:srgbClr val="163B36"/>
                </a:solidFill>
                <a:latin typeface="Arial"/>
                <a:ea typeface="Arial"/>
                <a:cs typeface="Arial"/>
              </a:defRPr>
            </a:pPr>
            <a:r>
              <a:rPr sz="2100" b="1">
                <a:solidFill>
                  <a:srgbClr val="163B36"/>
                </a:solidFill>
                <a:latin typeface="Arial"/>
                <a:ea typeface="Arial"/>
                <a:cs typeface="Arial"/>
              </a:rPr>
              <a:t>Decide on a small trial.</a:t>
            </a:r>
          </a:p>
        </p:txBody>
      </p:sp>
      <p:sp>
        <p:nvSpPr>
          <p:cNvPr id="16" name="">
            <a:extLst xmlns:a="http://schemas.openxmlformats.org/drawingml/2006/main">
              <a:ext uri="{FF2B5EF4-FFF2-40B4-BE49-F238E27FC236}">
                <a16:creationId xmlns:a16="http://schemas.microsoft.com/office/drawing/2014/main" id="{BAE408F0-CCA4-48C6-8698-476243C08B56}"/>
              </a:ext>
            </a:extLst>
          </p:cNvPr>
          <p:cNvSpPr>
            <a:spLocks xmlns:a="http://schemas.openxmlformats.org/drawingml/2006/main" noGrp="1"/>
          </p:cNvSpPr>
          <p:nvPr/>
        </p:nvSpPr>
        <p:spPr>
          <a:xfrm xmlns:a="http://schemas.openxmlformats.org/drawingml/2006/main">
            <a:off x="8296275" y="4943475"/>
            <a:ext cx="32670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BD5A32"/>
                </a:solidFill>
                <a:latin typeface="Arial"/>
                <a:ea typeface="Arial"/>
                <a:cs typeface="Arial"/>
              </a:defRPr>
            </a:pPr>
            <a:r>
              <a:rPr sz="1950" b="0">
                <a:solidFill>
                  <a:srgbClr val="BD5A32"/>
                </a:solidFill>
                <a:latin typeface="Arial"/>
                <a:ea typeface="Arial"/>
                <a:cs typeface="Arial"/>
              </a:rPr>
              <a:t>Proceed only if both</a:t>
            </a:r>
          </a:p>
          <a:p xmlns:a="http://schemas.openxmlformats.org/drawingml/2006/main">
            <a:pPr>
              <a:defRPr sz="1950" b="0">
                <a:solidFill>
                  <a:srgbClr val="BD5A32"/>
                </a:solidFill>
                <a:latin typeface="Arial"/>
                <a:ea typeface="Arial"/>
                <a:cs typeface="Arial"/>
              </a:defRPr>
            </a:pPr>
            <a:r>
              <a:rPr sz="1950" b="0">
                <a:solidFill>
                  <a:srgbClr val="BD5A32"/>
                </a:solidFill>
                <a:latin typeface="Arial"/>
                <a:ea typeface="Arial"/>
                <a:cs typeface="Arial"/>
              </a:rPr>
              <a:t>gates pass.</a:t>
            </a:r>
          </a:p>
        </p:txBody>
      </p:sp>
      <p:sp>
        <p:nvSpPr>
          <p:cNvPr id="17" name="">
            <a:extLst xmlns:a="http://schemas.openxmlformats.org/drawingml/2006/main">
              <a:ext uri="{FF2B5EF4-FFF2-40B4-BE49-F238E27FC236}">
                <a16:creationId xmlns:a16="http://schemas.microsoft.com/office/drawing/2014/main" id="{0329FFAD-0E9F-4C55-A933-E7DE3304AE92}"/>
              </a:ext>
            </a:extLst>
          </p:cNvPr>
          <p:cNvSpPr>
            <a:spLocks xmlns:a="http://schemas.openxmlformats.org/drawingml/2006/main" noGrp="1"/>
          </p:cNvSpPr>
          <p:nvPr/>
        </p:nvSpPr>
        <p:spPr>
          <a:xfrm xmlns:a="http://schemas.openxmlformats.org/drawingml/2006/main">
            <a:off x="609600" y="60007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37E72"/>
                </a:solidFill>
                <a:latin typeface="Arial"/>
                <a:ea typeface="Arial"/>
                <a:cs typeface="Arial"/>
              </a:defRPr>
            </a:pPr>
            <a:r>
              <a:rPr sz="1875" b="0">
                <a:solidFill>
                  <a:srgbClr val="237E72"/>
                </a:solidFill>
                <a:latin typeface="Arial"/>
                <a:ea typeface="Arial"/>
                <a:cs typeface="Arial"/>
              </a:rPr>
              <a:t>During a trial, track paid nights, cleaning workload and net cash flow.</a:t>
            </a:r>
          </a:p>
        </p:txBody>
      </p:sp>
    </p:spTree>
    <p:extLst>
      <p:ext uri="{BB962C8B-B14F-4D97-AF65-F5344CB8AC3E}">
        <p14:creationId xmlns:p14="http://schemas.microsoft.com/office/powerpoint/2010/main" val="1939074586"/>
      </p:ext>
    </p:extLst>
  </p:cSld>
  <p:transition spd="med" advClick="1">
    <p:fade/>
  </p:transition>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0f3f99bae0a439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3CEC391-554C-4DF0-B5B0-90111B635777}"/>
              </a:ext>
            </a:extLst>
          </p:cNvPr>
          <p:cNvSpPr>
            <a:spLocks xmlns:a="http://schemas.openxmlformats.org/drawingml/2006/main" noGrp="1"/>
          </p:cNvSpPr>
          <p:nvPr/>
        </p:nvSpPr>
        <p:spPr>
          <a:xfrm xmlns:a="http://schemas.openxmlformats.org/drawingml/2006/main">
            <a:off x="0" y="0"/>
            <a:ext cx="8001000" cy="6858000"/>
          </a:xfrm>
          <a:prstGeom xmlns:a="http://schemas.openxmlformats.org/drawingml/2006/main" prst="rect">
            <a:avLst/>
          </a:prstGeom>
          <a:gradFill xmlns:a="http://schemas.openxmlformats.org/drawingml/2006/main">
            <a:gsLst>
              <a:gs pos="0">
                <a:srgbClr val="102E28"/>
              </a:gs>
              <a:gs pos="61000">
                <a:srgbClr val="102E28">
                  <a:alpha val="96000"/>
                </a:srgbClr>
              </a:gs>
              <a:gs pos="100000">
                <a:srgbClr val="102E28">
                  <a:alpha val="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22A4302-84E3-4540-8637-5EA03ADABEC9}"/>
              </a:ext>
            </a:extLst>
          </p:cNvPr>
          <p:cNvSpPr>
            <a:spLocks xmlns:a="http://schemas.openxmlformats.org/drawingml/2006/main" noGrp="1"/>
          </p:cNvSpPr>
          <p:nvPr/>
        </p:nvSpPr>
        <p:spPr>
          <a:xfrm xmlns:a="http://schemas.openxmlformats.org/drawingml/2006/main">
            <a:off x="609600" y="466725"/>
            <a:ext cx="6477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C6D9D1"/>
                </a:solidFill>
                <a:latin typeface="Arial"/>
                <a:ea typeface="Arial"/>
                <a:cs typeface="Arial"/>
              </a:defRPr>
            </a:pPr>
            <a:r>
              <a:rPr sz="1500" b="1">
                <a:solidFill>
                  <a:srgbClr val="C6D9D1"/>
                </a:solidFill>
                <a:latin typeface="Arial"/>
                <a:ea typeface="Arial"/>
                <a:cs typeface="Arial"/>
              </a:rPr>
              <a:t>THE DECISION TODAY</a:t>
            </a:r>
          </a:p>
        </p:txBody>
      </p:sp>
      <p:sp>
        <p:nvSpPr>
          <p:cNvPr id="4" name="">
            <a:extLst xmlns:a="http://schemas.openxmlformats.org/drawingml/2006/main">
              <a:ext uri="{FF2B5EF4-FFF2-40B4-BE49-F238E27FC236}">
                <a16:creationId xmlns:a16="http://schemas.microsoft.com/office/drawing/2014/main" id="{A3DB3A77-3F8F-492C-AE26-A80C5B24CCE2}"/>
              </a:ext>
            </a:extLst>
          </p:cNvPr>
          <p:cNvSpPr>
            <a:spLocks xmlns:a="http://schemas.openxmlformats.org/drawingml/2006/main" noGrp="1"/>
          </p:cNvSpPr>
          <p:nvPr/>
        </p:nvSpPr>
        <p:spPr>
          <a:xfrm xmlns:a="http://schemas.openxmlformats.org/drawingml/2006/main">
            <a:off x="609600" y="1400175"/>
            <a:ext cx="6286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FFFFFF"/>
                </a:solidFill>
                <a:latin typeface="Georgia"/>
                <a:ea typeface="Georgia"/>
                <a:cs typeface="Georgia"/>
              </a:defRPr>
            </a:pPr>
            <a:r>
              <a:rPr sz="4350" b="1">
                <a:solidFill>
                  <a:srgbClr val="FFFFFF"/>
                </a:solidFill>
                <a:latin typeface="Georgia"/>
                <a:ea typeface="Georgia"/>
                <a:cs typeface="Georgia"/>
              </a:rPr>
              <a:t>Approve a</a:t>
            </a:r>
          </a:p>
          <a:p xmlns:a="http://schemas.openxmlformats.org/drawingml/2006/main">
            <a:pPr>
              <a:defRPr sz="4350" b="1">
                <a:solidFill>
                  <a:srgbClr val="FFFFFF"/>
                </a:solidFill>
                <a:latin typeface="Georgia"/>
                <a:ea typeface="Georgia"/>
                <a:cs typeface="Georgia"/>
              </a:defRPr>
            </a:pPr>
            <a:r>
              <a:rPr sz="4350" b="1">
                <a:solidFill>
                  <a:srgbClr val="FFFFFF"/>
                </a:solidFill>
                <a:latin typeface="Georgia"/>
                <a:ea typeface="Georgia"/>
                <a:cs typeface="Georgia"/>
              </a:rPr>
              <a:t>focused search.</a:t>
            </a:r>
          </a:p>
        </p:txBody>
      </p:sp>
      <p:sp>
        <p:nvSpPr>
          <p:cNvPr id="5" name="">
            <a:extLst xmlns:a="http://schemas.openxmlformats.org/drawingml/2006/main">
              <a:ext uri="{FF2B5EF4-FFF2-40B4-BE49-F238E27FC236}">
                <a16:creationId xmlns:a16="http://schemas.microsoft.com/office/drawing/2014/main" id="{6E30724C-7F99-47A0-801A-6F9C8122E3CB}"/>
              </a:ext>
            </a:extLst>
          </p:cNvPr>
          <p:cNvSpPr>
            <a:spLocks xmlns:a="http://schemas.openxmlformats.org/drawingml/2006/main" noGrp="1"/>
          </p:cNvSpPr>
          <p:nvPr/>
        </p:nvSpPr>
        <p:spPr>
          <a:xfrm xmlns:a="http://schemas.openxmlformats.org/drawingml/2006/main">
            <a:off x="609600" y="3457575"/>
            <a:ext cx="64389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F1B98E"/>
                </a:solidFill>
                <a:latin typeface="Arial"/>
                <a:ea typeface="Arial"/>
                <a:cs typeface="Arial"/>
              </a:defRPr>
            </a:pPr>
            <a:r>
              <a:rPr sz="2175" b="1">
                <a:solidFill>
                  <a:srgbClr val="F1B98E"/>
                </a:solidFill>
                <a:latin typeface="Arial"/>
                <a:ea typeface="Arial"/>
                <a:cs typeface="Arial"/>
              </a:rPr>
              <a:t>30 days. 10 candidates.</a:t>
            </a:r>
          </a:p>
          <a:p xmlns:a="http://schemas.openxmlformats.org/drawingml/2006/main">
            <a:pPr>
              <a:defRPr sz="2175" b="1">
                <a:solidFill>
                  <a:srgbClr val="F1B98E"/>
                </a:solidFill>
                <a:latin typeface="Arial"/>
                <a:ea typeface="Arial"/>
                <a:cs typeface="Arial"/>
              </a:defRPr>
            </a:pPr>
            <a:r>
              <a:rPr sz="2175" b="1">
                <a:solidFill>
                  <a:srgbClr val="F1B98E"/>
                </a:solidFill>
                <a:latin typeface="Arial"/>
                <a:ea typeface="Arial"/>
                <a:cs typeface="Arial"/>
              </a:rPr>
              <a:t>City of Melbourne apartments first.</a:t>
            </a:r>
          </a:p>
          <a:p xmlns:a="http://schemas.openxmlformats.org/drawingml/2006/main">
            <a:pPr>
              <a:defRPr sz="2175" b="1">
                <a:solidFill>
                  <a:srgbClr val="F1B98E"/>
                </a:solidFill>
                <a:latin typeface="Arial"/>
                <a:ea typeface="Arial"/>
                <a:cs typeface="Arial"/>
              </a:defRPr>
            </a:pPr>
            <a:r>
              <a:rPr sz="2175" b="1">
                <a:solidFill>
                  <a:srgbClr val="F1B98E"/>
                </a:solidFill>
                <a:latin typeface="Arial"/>
                <a:ea typeface="Arial"/>
                <a:cs typeface="Arial"/>
              </a:rPr>
              <a:t>Yarra Ranges houses as backup.</a:t>
            </a:r>
          </a:p>
        </p:txBody>
      </p:sp>
      <p:sp>
        <p:nvSpPr>
          <p:cNvPr id="6" name="">
            <a:extLst xmlns:a="http://schemas.openxmlformats.org/drawingml/2006/main">
              <a:ext uri="{FF2B5EF4-FFF2-40B4-BE49-F238E27FC236}">
                <a16:creationId xmlns:a16="http://schemas.microsoft.com/office/drawing/2014/main" id="{0BABB037-3CA3-4EF9-9092-DB8B4991D002}"/>
              </a:ext>
            </a:extLst>
          </p:cNvPr>
          <p:cNvSpPr>
            <a:spLocks xmlns:a="http://schemas.openxmlformats.org/drawingml/2006/main" noGrp="1"/>
          </p:cNvSpPr>
          <p:nvPr/>
        </p:nvSpPr>
        <p:spPr>
          <a:xfrm xmlns:a="http://schemas.openxmlformats.org/drawingml/2006/main">
            <a:off x="609600" y="5238750"/>
            <a:ext cx="6286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Every lease still needs permission</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and a viable cash-flow case.</a:t>
            </a:r>
          </a:p>
        </p:txBody>
      </p:sp>
      <p:sp>
        <p:nvSpPr>
          <p:cNvPr id="7" name="">
            <a:extLst xmlns:a="http://schemas.openxmlformats.org/drawingml/2006/main">
              <a:ext uri="{FF2B5EF4-FFF2-40B4-BE49-F238E27FC236}">
                <a16:creationId xmlns:a16="http://schemas.microsoft.com/office/drawing/2014/main" id="{0474BA4B-4568-4B4B-97E2-FEC261E054FD}"/>
              </a:ext>
            </a:extLst>
          </p:cNvPr>
          <p:cNvSpPr>
            <a:spLocks xmlns:a="http://schemas.openxmlformats.org/drawingml/2006/main" noGrp="1"/>
          </p:cNvSpPr>
          <p:nvPr/>
        </p:nvSpPr>
        <p:spPr>
          <a:xfrm xmlns:a="http://schemas.openxmlformats.org/drawingml/2006/main">
            <a:off x="609600" y="6362700"/>
            <a:ext cx="704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C6D9D1"/>
                </a:solidFill>
                <a:latin typeface="Arial"/>
                <a:ea typeface="Arial"/>
                <a:cs typeface="Arial"/>
              </a:defRPr>
            </a:pPr>
            <a:r>
              <a:rPr sz="1650" b="0">
                <a:solidFill>
                  <a:srgbClr val="C6D9D1"/>
                </a:solidFill>
                <a:latin typeface="Arial"/>
                <a:ea typeface="Arial"/>
                <a:cs typeface="Arial"/>
              </a:rPr>
              <a:t>Thank you. Questions?</a:t>
            </a:r>
          </a:p>
        </p:txBody>
      </p:sp>
      <p:sp>
        <p:nvSpPr>
          <p:cNvPr id="8" name="">
            <a:extLst xmlns:a="http://schemas.openxmlformats.org/drawingml/2006/main">
              <a:ext uri="{FF2B5EF4-FFF2-40B4-BE49-F238E27FC236}">
                <a16:creationId xmlns:a16="http://schemas.microsoft.com/office/drawing/2014/main" id="{FDA6CFE2-E6B7-4D84-B42D-CFF3A5BE4CAE}"/>
              </a:ext>
            </a:extLst>
          </p:cNvPr>
          <p:cNvSpPr>
            <a:spLocks xmlns:a="http://schemas.openxmlformats.org/drawingml/2006/main" noGrp="1"/>
          </p:cNvSpPr>
          <p:nvPr/>
        </p:nvSpPr>
        <p:spPr>
          <a:xfrm xmlns:a="http://schemas.openxmlformats.org/drawingml/2006/main">
            <a:off x="9953625" y="647700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0">
                <a:solidFill>
                  <a:srgbClr val="C6D9D1"/>
                </a:solidFill>
                <a:latin typeface="Arial"/>
                <a:ea typeface="Arial"/>
                <a:cs typeface="Arial"/>
              </a:defRPr>
            </a:pPr>
            <a:r>
              <a:rPr sz="1050" b="0">
                <a:solidFill>
                  <a:srgbClr val="C6D9D1"/>
                </a:solidFill>
                <a:latin typeface="Arial"/>
                <a:ea typeface="Arial"/>
                <a:cs typeface="Arial"/>
              </a:rPr>
              <a:t>Illustrative 3D render</a:t>
            </a:r>
          </a:p>
        </p:txBody>
      </p:sp>
    </p:spTree>
    <p:extLst>
      <p:ext uri="{BB962C8B-B14F-4D97-AF65-F5344CB8AC3E}">
        <p14:creationId xmlns:p14="http://schemas.microsoft.com/office/powerpoint/2010/main" val="1594490751"/>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2026-10-01T12:38:42.9430000Z</dcterms:created>
  <dcterms:modified xsi:type="dcterms:W3CDTF">2026-10-01T12:38:42.9430000Z</dcterms:modified>
</coreProperties>
</file>